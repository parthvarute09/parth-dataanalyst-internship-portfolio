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26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Records</c:v>
                </c:pt>
              </c:strCache>
            </c:strRef>
          </c:tx>
          <c:spPr>
            <a:solidFill>
              <a:srgbClr val="00C2A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E6B-4EED-9694-4AF9ECB61272}"/>
              </c:ext>
            </c:extLst>
          </c:dPt>
          <c:dPt>
            <c:idx val="1"/>
            <c:invertIfNegative val="0"/>
            <c:bubble3D val="0"/>
            <c:spPr>
              <a:solidFill>
                <a:srgbClr val="8B85E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E6B-4EED-9694-4AF9ECB61272}"/>
              </c:ext>
            </c:extLst>
          </c:dPt>
          <c:dPt>
            <c:idx val="2"/>
            <c:invertIfNegative val="0"/>
            <c:bubble3D val="0"/>
            <c:spPr>
              <a:solidFill>
                <a:srgbClr val="5B62B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E6B-4EED-9694-4AF9ECB6127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3A3F8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Raw Rows</c:v>
                </c:pt>
                <c:pt idx="1">
                  <c:v>Duplicates Removed</c:v>
                </c:pt>
                <c:pt idx="2">
                  <c:v>Final Clean Orders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1000</c:v>
                </c:pt>
                <c:pt idx="1">
                  <c:v>8</c:v>
                </c:pt>
                <c:pt idx="2">
                  <c:v>992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E6B-4EED-9694-4AF9ECB6127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A6F9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8EA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A6F9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%</c:v>
                </c:pt>
              </c:strCache>
            </c:strRef>
          </c:tx>
          <c:spPr>
            <a:solidFill>
              <a:srgbClr val="00C2A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331-4BD9-AF80-620E14A6D703}"/>
              </c:ext>
            </c:extLst>
          </c:dPt>
          <c:dPt>
            <c:idx val="1"/>
            <c:invertIfNegative val="0"/>
            <c:bubble3D val="0"/>
            <c:spPr>
              <a:solidFill>
                <a:srgbClr val="8B85E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331-4BD9-AF80-620E14A6D703}"/>
              </c:ext>
            </c:extLst>
          </c:dPt>
          <c:dPt>
            <c:idx val="2"/>
            <c:invertIfNegative val="0"/>
            <c:bubble3D val="0"/>
            <c:spPr>
              <a:solidFill>
                <a:srgbClr val="5B62B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331-4BD9-AF80-620E14A6D703}"/>
              </c:ext>
            </c:extLst>
          </c:dPt>
          <c:dPt>
            <c:idx val="3"/>
            <c:invertIfNegative val="0"/>
            <c:bubble3D val="0"/>
            <c:spPr>
              <a:solidFill>
                <a:srgbClr val="A6D6C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331-4BD9-AF80-620E14A6D70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3A3F8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Electronics</c:v>
                </c:pt>
                <c:pt idx="1">
                  <c:v>Education</c:v>
                </c:pt>
                <c:pt idx="2">
                  <c:v>Grocery</c:v>
                </c:pt>
                <c:pt idx="3">
                  <c:v>Other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36.4</c:v>
                </c:pt>
                <c:pt idx="1">
                  <c:v>18</c:v>
                </c:pt>
                <c:pt idx="2">
                  <c:v>14.2</c:v>
                </c:pt>
                <c:pt idx="3">
                  <c:v>31.4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331-4BD9-AF80-620E14A6D70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A6F9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8EA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A6F9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AOV (₹K)</c:v>
                </c:pt>
              </c:strCache>
            </c:strRef>
          </c:tx>
          <c:spPr>
            <a:solidFill>
              <a:srgbClr val="00C2A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0F9-480F-B386-1111086190BF}"/>
              </c:ext>
            </c:extLst>
          </c:dPt>
          <c:dPt>
            <c:idx val="1"/>
            <c:invertIfNegative val="0"/>
            <c:bubble3D val="0"/>
            <c:spPr>
              <a:solidFill>
                <a:srgbClr val="8B85E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0F9-480F-B386-1111086190BF}"/>
              </c:ext>
            </c:extLst>
          </c:dPt>
          <c:dPt>
            <c:idx val="2"/>
            <c:invertIfNegative val="0"/>
            <c:bubble3D val="0"/>
            <c:spPr>
              <a:solidFill>
                <a:srgbClr val="5B62B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0F9-480F-B386-1111086190BF}"/>
              </c:ext>
            </c:extLst>
          </c:dPt>
          <c:dPt>
            <c:idx val="3"/>
            <c:invertIfNegative val="0"/>
            <c:bubble3D val="0"/>
            <c:spPr>
              <a:solidFill>
                <a:srgbClr val="A6D6C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0F9-480F-B386-1111086190B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3A3F8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Young Budget</c:v>
                </c:pt>
                <c:pt idx="1">
                  <c:v>Senior Budget</c:v>
                </c:pt>
                <c:pt idx="2">
                  <c:v>Young High-Value</c:v>
                </c:pt>
                <c:pt idx="3">
                  <c:v>Premium Bulk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66.400000000000006</c:v>
                </c:pt>
                <c:pt idx="1">
                  <c:v>73.2</c:v>
                </c:pt>
                <c:pt idx="2">
                  <c:v>157.19999999999999</c:v>
                </c:pt>
                <c:pt idx="3">
                  <c:v>299.3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0F9-480F-B386-1111086190B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A6F9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8EA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A6F9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7098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apexplanet.in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0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0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0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0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hyperlink" Target="https://github.com/parthvarute09/DataAnalyst-Internship-Portfolio" TargetMode="Externa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mailto:parthvarute2005@gmail.com" TargetMode="External"/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linkedin.com/in/parth-varute-49516a332/" TargetMode="External"/><Relationship Id="rId5" Type="http://schemas.openxmlformats.org/officeDocument/2006/relationships/image" Target="../media/image22.png"/><Relationship Id="rId4" Type="http://schemas.openxmlformats.org/officeDocument/2006/relationships/hyperlink" Target="https://github.com/parthvarute09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502920"/>
            <a:ext cx="64008" cy="6400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649224"/>
            <a:ext cx="64008" cy="6400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4" name="Shape 2"/>
          <p:cNvSpPr/>
          <p:nvPr/>
        </p:nvSpPr>
        <p:spPr>
          <a:xfrm>
            <a:off x="10881360" y="795528"/>
            <a:ext cx="64008" cy="6400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5" name="Shape 3"/>
          <p:cNvSpPr/>
          <p:nvPr/>
        </p:nvSpPr>
        <p:spPr>
          <a:xfrm>
            <a:off x="10881360" y="941832"/>
            <a:ext cx="64008" cy="6400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6" name="Shape 4"/>
          <p:cNvSpPr/>
          <p:nvPr/>
        </p:nvSpPr>
        <p:spPr>
          <a:xfrm>
            <a:off x="10881360" y="1088136"/>
            <a:ext cx="64008" cy="6400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7" name="Shape 5"/>
          <p:cNvSpPr/>
          <p:nvPr/>
        </p:nvSpPr>
        <p:spPr>
          <a:xfrm>
            <a:off x="11027664" y="502920"/>
            <a:ext cx="64008" cy="6400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8" name="Shape 6"/>
          <p:cNvSpPr/>
          <p:nvPr/>
        </p:nvSpPr>
        <p:spPr>
          <a:xfrm>
            <a:off x="11027664" y="649224"/>
            <a:ext cx="64008" cy="6400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9" name="Shape 7"/>
          <p:cNvSpPr/>
          <p:nvPr/>
        </p:nvSpPr>
        <p:spPr>
          <a:xfrm>
            <a:off x="11027664" y="795528"/>
            <a:ext cx="64008" cy="6400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0" name="Shape 8"/>
          <p:cNvSpPr/>
          <p:nvPr/>
        </p:nvSpPr>
        <p:spPr>
          <a:xfrm>
            <a:off x="11027664" y="941832"/>
            <a:ext cx="64008" cy="6400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1" name="Shape 9"/>
          <p:cNvSpPr/>
          <p:nvPr/>
        </p:nvSpPr>
        <p:spPr>
          <a:xfrm>
            <a:off x="11027664" y="1088136"/>
            <a:ext cx="64008" cy="6400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2" name="Shape 10"/>
          <p:cNvSpPr/>
          <p:nvPr/>
        </p:nvSpPr>
        <p:spPr>
          <a:xfrm>
            <a:off x="11173968" y="502920"/>
            <a:ext cx="64008" cy="6400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3" name="Shape 11"/>
          <p:cNvSpPr/>
          <p:nvPr/>
        </p:nvSpPr>
        <p:spPr>
          <a:xfrm>
            <a:off x="11173968" y="649224"/>
            <a:ext cx="64008" cy="6400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4" name="Shape 12"/>
          <p:cNvSpPr/>
          <p:nvPr/>
        </p:nvSpPr>
        <p:spPr>
          <a:xfrm>
            <a:off x="11173968" y="795528"/>
            <a:ext cx="64008" cy="6400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5" name="Shape 13"/>
          <p:cNvSpPr/>
          <p:nvPr/>
        </p:nvSpPr>
        <p:spPr>
          <a:xfrm>
            <a:off x="11173968" y="941832"/>
            <a:ext cx="64008" cy="6400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6" name="Shape 14"/>
          <p:cNvSpPr/>
          <p:nvPr/>
        </p:nvSpPr>
        <p:spPr>
          <a:xfrm>
            <a:off x="11173968" y="1088136"/>
            <a:ext cx="64008" cy="6400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7" name="Shape 15"/>
          <p:cNvSpPr/>
          <p:nvPr/>
        </p:nvSpPr>
        <p:spPr>
          <a:xfrm>
            <a:off x="11320272" y="502920"/>
            <a:ext cx="64008" cy="6400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8" name="Shape 16"/>
          <p:cNvSpPr/>
          <p:nvPr/>
        </p:nvSpPr>
        <p:spPr>
          <a:xfrm>
            <a:off x="11320272" y="649224"/>
            <a:ext cx="64008" cy="6400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9" name="Shape 17"/>
          <p:cNvSpPr/>
          <p:nvPr/>
        </p:nvSpPr>
        <p:spPr>
          <a:xfrm>
            <a:off x="11320272" y="795528"/>
            <a:ext cx="64008" cy="6400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0" name="Shape 18"/>
          <p:cNvSpPr/>
          <p:nvPr/>
        </p:nvSpPr>
        <p:spPr>
          <a:xfrm>
            <a:off x="11320272" y="941832"/>
            <a:ext cx="64008" cy="6400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1" name="Shape 19"/>
          <p:cNvSpPr/>
          <p:nvPr/>
        </p:nvSpPr>
        <p:spPr>
          <a:xfrm>
            <a:off x="11320272" y="1088136"/>
            <a:ext cx="64008" cy="6400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2" name="Shape 20"/>
          <p:cNvSpPr/>
          <p:nvPr/>
        </p:nvSpPr>
        <p:spPr>
          <a:xfrm>
            <a:off x="11466576" y="502920"/>
            <a:ext cx="64008" cy="6400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3" name="Shape 21"/>
          <p:cNvSpPr/>
          <p:nvPr/>
        </p:nvSpPr>
        <p:spPr>
          <a:xfrm>
            <a:off x="11466576" y="649224"/>
            <a:ext cx="64008" cy="6400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4" name="Shape 22"/>
          <p:cNvSpPr/>
          <p:nvPr/>
        </p:nvSpPr>
        <p:spPr>
          <a:xfrm>
            <a:off x="11466576" y="795528"/>
            <a:ext cx="64008" cy="6400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5" name="Shape 23"/>
          <p:cNvSpPr/>
          <p:nvPr/>
        </p:nvSpPr>
        <p:spPr>
          <a:xfrm>
            <a:off x="11466576" y="941832"/>
            <a:ext cx="64008" cy="6400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6" name="Shape 24"/>
          <p:cNvSpPr/>
          <p:nvPr/>
        </p:nvSpPr>
        <p:spPr>
          <a:xfrm>
            <a:off x="11466576" y="1088136"/>
            <a:ext cx="64008" cy="6400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7" name="Shape 25"/>
          <p:cNvSpPr/>
          <p:nvPr/>
        </p:nvSpPr>
        <p:spPr>
          <a:xfrm>
            <a:off x="11612880" y="502920"/>
            <a:ext cx="64008" cy="6400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8" name="Shape 26"/>
          <p:cNvSpPr/>
          <p:nvPr/>
        </p:nvSpPr>
        <p:spPr>
          <a:xfrm>
            <a:off x="11612880" y="649224"/>
            <a:ext cx="64008" cy="6400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9" name="Shape 27"/>
          <p:cNvSpPr/>
          <p:nvPr/>
        </p:nvSpPr>
        <p:spPr>
          <a:xfrm>
            <a:off x="11612880" y="795528"/>
            <a:ext cx="64008" cy="6400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30" name="Shape 28"/>
          <p:cNvSpPr/>
          <p:nvPr/>
        </p:nvSpPr>
        <p:spPr>
          <a:xfrm>
            <a:off x="11612880" y="941832"/>
            <a:ext cx="64008" cy="6400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31" name="Shape 29"/>
          <p:cNvSpPr/>
          <p:nvPr/>
        </p:nvSpPr>
        <p:spPr>
          <a:xfrm>
            <a:off x="11612880" y="1088136"/>
            <a:ext cx="64008" cy="6400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32" name="Shape 30"/>
          <p:cNvSpPr/>
          <p:nvPr/>
        </p:nvSpPr>
        <p:spPr>
          <a:xfrm>
            <a:off x="11759184" y="502920"/>
            <a:ext cx="64008" cy="6400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33" name="Shape 31"/>
          <p:cNvSpPr/>
          <p:nvPr/>
        </p:nvSpPr>
        <p:spPr>
          <a:xfrm>
            <a:off x="11759184" y="649224"/>
            <a:ext cx="64008" cy="6400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34" name="Shape 32"/>
          <p:cNvSpPr/>
          <p:nvPr/>
        </p:nvSpPr>
        <p:spPr>
          <a:xfrm>
            <a:off x="11759184" y="795528"/>
            <a:ext cx="64008" cy="6400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35" name="Shape 33"/>
          <p:cNvSpPr/>
          <p:nvPr/>
        </p:nvSpPr>
        <p:spPr>
          <a:xfrm>
            <a:off x="11759184" y="941832"/>
            <a:ext cx="64008" cy="6400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36" name="Shape 34"/>
          <p:cNvSpPr/>
          <p:nvPr/>
        </p:nvSpPr>
        <p:spPr>
          <a:xfrm>
            <a:off x="11759184" y="1088136"/>
            <a:ext cx="64008" cy="6400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37" name="Shape 35"/>
          <p:cNvSpPr/>
          <p:nvPr/>
        </p:nvSpPr>
        <p:spPr>
          <a:xfrm>
            <a:off x="8778240" y="-1463040"/>
            <a:ext cx="5486400" cy="5486400"/>
          </a:xfrm>
          <a:prstGeom prst="ellipse">
            <a:avLst/>
          </a:prstGeom>
          <a:solidFill>
            <a:srgbClr val="2B2F77"/>
          </a:solidFill>
          <a:ln/>
        </p:spPr>
      </p:sp>
      <p:sp>
        <p:nvSpPr>
          <p:cNvPr id="38" name="Shape 36"/>
          <p:cNvSpPr/>
          <p:nvPr/>
        </p:nvSpPr>
        <p:spPr>
          <a:xfrm>
            <a:off x="9692640" y="-822960"/>
            <a:ext cx="3291840" cy="329184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39" name="Text 37"/>
          <p:cNvSpPr/>
          <p:nvPr/>
        </p:nvSpPr>
        <p:spPr>
          <a:xfrm>
            <a:off x="822960" y="1965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INTERNSHIP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777240" y="233172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Portfolio</a:t>
            </a:r>
            <a:endParaRPr lang="en-US" sz="5400" dirty="0"/>
          </a:p>
        </p:txBody>
      </p:sp>
      <p:sp>
        <p:nvSpPr>
          <p:cNvPr id="41" name="Shape 39"/>
          <p:cNvSpPr/>
          <p:nvPr/>
        </p:nvSpPr>
        <p:spPr>
          <a:xfrm>
            <a:off x="822960" y="3703320"/>
            <a:ext cx="502920" cy="4572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42" name="Text 40"/>
          <p:cNvSpPr/>
          <p:nvPr/>
        </p:nvSpPr>
        <p:spPr>
          <a:xfrm>
            <a:off x="822960" y="38862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E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end-to-end capstone — from raw data to statistically validated business recommendations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822960" y="4892040"/>
            <a:ext cx="566928" cy="566928"/>
          </a:xfrm>
          <a:prstGeom prst="ellipse">
            <a:avLst/>
          </a:prstGeom>
          <a:solidFill>
            <a:srgbClr val="2B2F77"/>
          </a:solidFill>
          <a:ln/>
        </p:spPr>
      </p:sp>
      <p:pic>
        <p:nvPicPr>
          <p:cNvPr id="44" name="Image 0" descr="/home/claude/portfolio_ppt/icons/us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661" y="4965741"/>
            <a:ext cx="419527" cy="419527"/>
          </a:xfrm>
          <a:prstGeom prst="rect">
            <a:avLst/>
          </a:prstGeom>
        </p:spPr>
      </p:pic>
      <p:sp>
        <p:nvSpPr>
          <p:cNvPr id="45" name="Text 42"/>
          <p:cNvSpPr/>
          <p:nvPr/>
        </p:nvSpPr>
        <p:spPr>
          <a:xfrm>
            <a:off x="1554480" y="48920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
</a:t>
            </a:r>
            <a:endParaRPr lang="en-US" sz="1100" dirty="0"/>
          </a:p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Parth Varute</a:t>
            </a:r>
            <a:endParaRPr lang="en-US" sz="1100" dirty="0"/>
          </a:p>
        </p:txBody>
      </p:sp>
      <p:sp>
        <p:nvSpPr>
          <p:cNvPr id="46" name="Text 43">
            <a:hlinkClick r:id="rId4"/>
          </p:cNvPr>
          <p:cNvSpPr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u="sng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ApexPlanet Software Pvt. Ltd.</a:t>
            </a:r>
            <a:endParaRPr lang="en-US" sz="1300" dirty="0"/>
          </a:p>
        </p:txBody>
      </p:sp>
      <p:sp>
        <p:nvSpPr>
          <p:cNvPr id="47" name="Text 44"/>
          <p:cNvSpPr/>
          <p:nvPr/>
        </p:nvSpPr>
        <p:spPr>
          <a:xfrm>
            <a:off x="822960" y="6263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Virtual Internship Program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B8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ME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person behind the portfolio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017520" cy="4480560"/>
          </a:xfrm>
          <a:prstGeom prst="roundRect">
            <a:avLst>
              <a:gd name="adj" fmla="val 3636"/>
            </a:avLst>
          </a:prstGeom>
          <a:solidFill>
            <a:srgbClr val="1B1F4B"/>
          </a:solidFill>
          <a:ln/>
          <a:effectLst>
            <a:outerShdw blurRad="101600" dist="38100" dir="5400000" algn="bl" rotWithShape="0">
              <a:srgbClr val="1B1F4B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34440" y="2148840"/>
            <a:ext cx="1645920" cy="164592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6" name="Image 0" descr="/home/claude/portfolio_ppt/icons/parth_phot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448" y="2212848"/>
            <a:ext cx="1517904" cy="1517904"/>
          </a:xfrm>
          <a:prstGeom prst="ellipse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931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Parth Varute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85800" y="43159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Aspiring Data Analyst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914400" y="4800600"/>
            <a:ext cx="2286000" cy="0"/>
          </a:xfrm>
          <a:prstGeom prst="line">
            <a:avLst/>
          </a:prstGeom>
          <a:noFill/>
          <a:ln w="12700">
            <a:solidFill>
              <a:srgbClr val="3A3F8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498348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Y Patil Technical Campus, Talsande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Engineering &amp; Management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977640" y="1737360"/>
            <a:ext cx="566928" cy="566928"/>
          </a:xfrm>
          <a:prstGeom prst="ellipse">
            <a:avLst/>
          </a:prstGeom>
          <a:solidFill>
            <a:srgbClr val="8B85E0"/>
          </a:solidFill>
          <a:ln/>
        </p:spPr>
      </p:sp>
      <p:pic>
        <p:nvPicPr>
          <p:cNvPr id="12" name="Image 1" descr="/home/claude/portfolio_ppt/icons/gradu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1341" y="1811061"/>
            <a:ext cx="419527" cy="41952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54880" y="1719072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Education</a:t>
            </a: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4754880" y="1887583"/>
            <a:ext cx="6675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A4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B.Tech, Computer Science &amp; Engineering — specialization in Data Science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3977640" y="3154680"/>
            <a:ext cx="566928" cy="566928"/>
          </a:xfrm>
          <a:prstGeom prst="ellipse">
            <a:avLst/>
          </a:prstGeom>
          <a:solidFill>
            <a:srgbClr val="8B85E0"/>
          </a:solidFill>
          <a:ln/>
        </p:spPr>
      </p:sp>
      <p:pic>
        <p:nvPicPr>
          <p:cNvPr id="16" name="Image 2" descr="/home/claude/portfolio_ppt/icons/targ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1341" y="3228381"/>
            <a:ext cx="419527" cy="41952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754880" y="3136392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4754880" y="3502152"/>
            <a:ext cx="6675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A4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foundation in Python, statistics, and database fundamentals built through coursework and self-driven projects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3977640" y="4572000"/>
            <a:ext cx="566928" cy="566928"/>
          </a:xfrm>
          <a:prstGeom prst="ellipse">
            <a:avLst/>
          </a:prstGeom>
          <a:solidFill>
            <a:srgbClr val="8B85E0"/>
          </a:solidFill>
          <a:ln/>
        </p:spPr>
      </p:sp>
      <p:pic>
        <p:nvPicPr>
          <p:cNvPr id="20" name="Image 3" descr="/home/claude/portfolio_ppt/icons/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51341" y="4645701"/>
            <a:ext cx="419527" cy="41952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754880" y="4553712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Data Analytics</a:t>
            </a:r>
            <a:endParaRPr lang="en-US" dirty="0"/>
          </a:p>
        </p:txBody>
      </p:sp>
      <p:sp>
        <p:nvSpPr>
          <p:cNvPr id="22" name="Text 16"/>
          <p:cNvSpPr/>
          <p:nvPr/>
        </p:nvSpPr>
        <p:spPr>
          <a:xfrm>
            <a:off x="4754880" y="4919472"/>
            <a:ext cx="6675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A4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Drawn to turning messy, real-world data into clear business decisions — this internship was the perfect hands-on proving ground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ApexPlanet Data Analytics Internship  |  Parth Varute — Final Portfolio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F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0" y="457200"/>
            <a:ext cx="54864" cy="54864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0" y="603504"/>
            <a:ext cx="54864" cy="54864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0" y="749808"/>
            <a:ext cx="54864" cy="54864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0" y="896112"/>
            <a:ext cx="54864" cy="54864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6" name="Shape 4"/>
          <p:cNvSpPr/>
          <p:nvPr/>
        </p:nvSpPr>
        <p:spPr>
          <a:xfrm>
            <a:off x="11119104" y="457200"/>
            <a:ext cx="54864" cy="54864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7" name="Shape 5"/>
          <p:cNvSpPr/>
          <p:nvPr/>
        </p:nvSpPr>
        <p:spPr>
          <a:xfrm>
            <a:off x="11119104" y="603504"/>
            <a:ext cx="54864" cy="54864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8" name="Shape 6"/>
          <p:cNvSpPr/>
          <p:nvPr/>
        </p:nvSpPr>
        <p:spPr>
          <a:xfrm>
            <a:off x="11119104" y="749808"/>
            <a:ext cx="54864" cy="54864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9" name="Shape 7"/>
          <p:cNvSpPr/>
          <p:nvPr/>
        </p:nvSpPr>
        <p:spPr>
          <a:xfrm>
            <a:off x="11119104" y="896112"/>
            <a:ext cx="54864" cy="54864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0" name="Shape 8"/>
          <p:cNvSpPr/>
          <p:nvPr/>
        </p:nvSpPr>
        <p:spPr>
          <a:xfrm>
            <a:off x="11265408" y="457200"/>
            <a:ext cx="54864" cy="54864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1" name="Shape 9"/>
          <p:cNvSpPr/>
          <p:nvPr/>
        </p:nvSpPr>
        <p:spPr>
          <a:xfrm>
            <a:off x="11265408" y="603504"/>
            <a:ext cx="54864" cy="54864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2" name="Shape 10"/>
          <p:cNvSpPr/>
          <p:nvPr/>
        </p:nvSpPr>
        <p:spPr>
          <a:xfrm>
            <a:off x="11265408" y="749808"/>
            <a:ext cx="54864" cy="54864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3" name="Shape 11"/>
          <p:cNvSpPr/>
          <p:nvPr/>
        </p:nvSpPr>
        <p:spPr>
          <a:xfrm>
            <a:off x="11265408" y="896112"/>
            <a:ext cx="54864" cy="54864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4" name="Shape 12"/>
          <p:cNvSpPr/>
          <p:nvPr/>
        </p:nvSpPr>
        <p:spPr>
          <a:xfrm>
            <a:off x="11411712" y="457200"/>
            <a:ext cx="54864" cy="54864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5" name="Shape 13"/>
          <p:cNvSpPr/>
          <p:nvPr/>
        </p:nvSpPr>
        <p:spPr>
          <a:xfrm>
            <a:off x="11411712" y="603504"/>
            <a:ext cx="54864" cy="54864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6" name="Shape 14"/>
          <p:cNvSpPr/>
          <p:nvPr/>
        </p:nvSpPr>
        <p:spPr>
          <a:xfrm>
            <a:off x="11411712" y="749808"/>
            <a:ext cx="54864" cy="54864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7" name="Shape 15"/>
          <p:cNvSpPr/>
          <p:nvPr/>
        </p:nvSpPr>
        <p:spPr>
          <a:xfrm>
            <a:off x="11411712" y="896112"/>
            <a:ext cx="54864" cy="54864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8" name="Shape 16"/>
          <p:cNvSpPr/>
          <p:nvPr/>
        </p:nvSpPr>
        <p:spPr>
          <a:xfrm>
            <a:off x="11558016" y="457200"/>
            <a:ext cx="54864" cy="54864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9" name="Shape 17"/>
          <p:cNvSpPr/>
          <p:nvPr/>
        </p:nvSpPr>
        <p:spPr>
          <a:xfrm>
            <a:off x="11558016" y="603504"/>
            <a:ext cx="54864" cy="54864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0" name="Shape 18"/>
          <p:cNvSpPr/>
          <p:nvPr/>
        </p:nvSpPr>
        <p:spPr>
          <a:xfrm>
            <a:off x="11558016" y="749808"/>
            <a:ext cx="54864" cy="54864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1" name="Shape 19"/>
          <p:cNvSpPr/>
          <p:nvPr/>
        </p:nvSpPr>
        <p:spPr>
          <a:xfrm>
            <a:off x="11558016" y="896112"/>
            <a:ext cx="54864" cy="54864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2" name="Shape 20"/>
          <p:cNvSpPr/>
          <p:nvPr/>
        </p:nvSpPr>
        <p:spPr>
          <a:xfrm>
            <a:off x="11704320" y="457200"/>
            <a:ext cx="54864" cy="54864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3" name="Shape 21"/>
          <p:cNvSpPr/>
          <p:nvPr/>
        </p:nvSpPr>
        <p:spPr>
          <a:xfrm>
            <a:off x="11704320" y="603504"/>
            <a:ext cx="54864" cy="54864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4" name="Shape 22"/>
          <p:cNvSpPr/>
          <p:nvPr/>
        </p:nvSpPr>
        <p:spPr>
          <a:xfrm>
            <a:off x="11704320" y="749808"/>
            <a:ext cx="54864" cy="54864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5" name="Shape 23"/>
          <p:cNvSpPr/>
          <p:nvPr/>
        </p:nvSpPr>
        <p:spPr>
          <a:xfrm>
            <a:off x="11704320" y="896112"/>
            <a:ext cx="54864" cy="54864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OVERVIEW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74980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internship was all about</a:t>
            </a:r>
            <a:endParaRPr lang="en-US" sz="3000" dirty="0"/>
          </a:p>
        </p:txBody>
      </p:sp>
      <p:sp>
        <p:nvSpPr>
          <p:cNvPr id="28" name="Shape 26"/>
          <p:cNvSpPr/>
          <p:nvPr/>
        </p:nvSpPr>
        <p:spPr>
          <a:xfrm>
            <a:off x="548640" y="1600200"/>
            <a:ext cx="3566160" cy="1554480"/>
          </a:xfrm>
          <a:prstGeom prst="roundRect">
            <a:avLst>
              <a:gd name="adj" fmla="val 5882"/>
            </a:avLst>
          </a:prstGeom>
          <a:solidFill>
            <a:srgbClr val="2B2F77"/>
          </a:solidFill>
          <a:ln/>
        </p:spPr>
      </p:sp>
      <p:sp>
        <p:nvSpPr>
          <p:cNvPr id="29" name="Shape 27"/>
          <p:cNvSpPr/>
          <p:nvPr/>
        </p:nvSpPr>
        <p:spPr>
          <a:xfrm>
            <a:off x="822960" y="1828800"/>
            <a:ext cx="548640" cy="548640"/>
          </a:xfrm>
          <a:prstGeom prst="ellipse">
            <a:avLst/>
          </a:prstGeom>
          <a:solidFill>
            <a:srgbClr val="1B1F4B"/>
          </a:solidFill>
          <a:ln/>
        </p:spPr>
      </p:sp>
      <p:pic>
        <p:nvPicPr>
          <p:cNvPr id="30" name="Image 0" descr="/home/claude/portfolio_ppt/icons/buil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1900123"/>
            <a:ext cx="405994" cy="405994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508760" y="184708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1463040" y="2121408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ApexPlanet Software Pvt. Ltd.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4343400" y="1600200"/>
            <a:ext cx="3566160" cy="1554480"/>
          </a:xfrm>
          <a:prstGeom prst="roundRect">
            <a:avLst>
              <a:gd name="adj" fmla="val 5882"/>
            </a:avLst>
          </a:prstGeom>
          <a:solidFill>
            <a:srgbClr val="2B2F77"/>
          </a:solidFill>
          <a:ln/>
        </p:spPr>
      </p:sp>
      <p:sp>
        <p:nvSpPr>
          <p:cNvPr id="34" name="Shape 31"/>
          <p:cNvSpPr/>
          <p:nvPr/>
        </p:nvSpPr>
        <p:spPr>
          <a:xfrm>
            <a:off x="4617720" y="1828800"/>
            <a:ext cx="548640" cy="548640"/>
          </a:xfrm>
          <a:prstGeom prst="ellipse">
            <a:avLst/>
          </a:prstGeom>
          <a:solidFill>
            <a:srgbClr val="1B1F4B"/>
          </a:solidFill>
          <a:ln/>
        </p:spPr>
      </p:sp>
      <p:pic>
        <p:nvPicPr>
          <p:cNvPr id="35" name="Image 1" descr="/home/claude/portfolio_ppt/icons/clip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2115" y="1885362"/>
            <a:ext cx="405994" cy="405994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5303520" y="184708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000" dirty="0"/>
          </a:p>
        </p:txBody>
      </p:sp>
      <p:sp>
        <p:nvSpPr>
          <p:cNvPr id="37" name="Text 33"/>
          <p:cNvSpPr/>
          <p:nvPr/>
        </p:nvSpPr>
        <p:spPr>
          <a:xfrm>
            <a:off x="5257800" y="2121408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Intern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8138160" y="1600200"/>
            <a:ext cx="3566160" cy="1554480"/>
          </a:xfrm>
          <a:prstGeom prst="roundRect">
            <a:avLst>
              <a:gd name="adj" fmla="val 5882"/>
            </a:avLst>
          </a:prstGeom>
          <a:solidFill>
            <a:srgbClr val="2B2F77"/>
          </a:solidFill>
          <a:ln/>
        </p:spPr>
      </p:sp>
      <p:sp>
        <p:nvSpPr>
          <p:cNvPr id="39" name="Shape 35"/>
          <p:cNvSpPr/>
          <p:nvPr/>
        </p:nvSpPr>
        <p:spPr>
          <a:xfrm>
            <a:off x="8412480" y="1828800"/>
            <a:ext cx="548640" cy="548640"/>
          </a:xfrm>
          <a:prstGeom prst="ellipse">
            <a:avLst/>
          </a:prstGeom>
          <a:solidFill>
            <a:srgbClr val="1B1F4B"/>
          </a:solidFill>
          <a:ln/>
        </p:spPr>
      </p:sp>
      <p:pic>
        <p:nvPicPr>
          <p:cNvPr id="40" name="Image 2" descr="/home/claude/portfolio_ppt/icons/calend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9142" y="1884074"/>
            <a:ext cx="405994" cy="405994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9098280" y="184708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000" dirty="0"/>
          </a:p>
        </p:txBody>
      </p:sp>
      <p:sp>
        <p:nvSpPr>
          <p:cNvPr id="42" name="Text 37"/>
          <p:cNvSpPr/>
          <p:nvPr/>
        </p:nvSpPr>
        <p:spPr>
          <a:xfrm>
            <a:off x="9052560" y="2121408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Days · 5 Structured Tasks</a:t>
            </a:r>
            <a:endParaRPr lang="en-US" sz="1300" dirty="0"/>
          </a:p>
        </p:txBody>
      </p:sp>
      <p:sp>
        <p:nvSpPr>
          <p:cNvPr id="43" name="Text 38"/>
          <p:cNvSpPr/>
          <p:nvPr/>
        </p:nvSpPr>
        <p:spPr>
          <a:xfrm>
            <a:off x="548640" y="3429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8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OBJECTIVES</a:t>
            </a:r>
            <a:endParaRPr lang="en-US" sz="1200" dirty="0"/>
          </a:p>
        </p:txBody>
      </p:sp>
      <p:sp>
        <p:nvSpPr>
          <p:cNvPr id="44" name="Shape 39"/>
          <p:cNvSpPr/>
          <p:nvPr/>
        </p:nvSpPr>
        <p:spPr>
          <a:xfrm>
            <a:off x="548640" y="3849624"/>
            <a:ext cx="109728" cy="10972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45" name="Text 40"/>
          <p:cNvSpPr/>
          <p:nvPr/>
        </p:nvSpPr>
        <p:spPr>
          <a:xfrm>
            <a:off x="822960" y="37033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with a real-world sales dataset end to end — from raw file to boardroom-ready insight</a:t>
            </a:r>
            <a:endParaRPr lang="en-US" sz="1300" dirty="0"/>
          </a:p>
        </p:txBody>
      </p:sp>
      <p:sp>
        <p:nvSpPr>
          <p:cNvPr id="46" name="Shape 41"/>
          <p:cNvSpPr/>
          <p:nvPr/>
        </p:nvSpPr>
        <p:spPr>
          <a:xfrm>
            <a:off x="548640" y="4416552"/>
            <a:ext cx="109728" cy="10972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47" name="Text 42"/>
          <p:cNvSpPr/>
          <p:nvPr/>
        </p:nvSpPr>
        <p:spPr>
          <a:xfrm>
            <a:off x="822960" y="4270248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fluency across the analytics stack: Python, SQL, BI dashboards, and statistical testing</a:t>
            </a:r>
            <a:endParaRPr lang="en-US" sz="1300" dirty="0"/>
          </a:p>
        </p:txBody>
      </p:sp>
      <p:sp>
        <p:nvSpPr>
          <p:cNvPr id="48" name="Shape 43"/>
          <p:cNvSpPr/>
          <p:nvPr/>
        </p:nvSpPr>
        <p:spPr>
          <a:xfrm>
            <a:off x="548640" y="4983480"/>
            <a:ext cx="109728" cy="10972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49" name="Text 44"/>
          <p:cNvSpPr/>
          <p:nvPr/>
        </p:nvSpPr>
        <p:spPr>
          <a:xfrm>
            <a:off x="822960" y="4837176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through 5 milestone tasks: Data Wrangling → EDA &amp; BI → Deep-Dive Dashboarding → Storytelling → Capstone Portfolio</a:t>
            </a:r>
            <a:endParaRPr lang="en-US" sz="1300" dirty="0"/>
          </a:p>
        </p:txBody>
      </p:sp>
      <p:sp>
        <p:nvSpPr>
          <p:cNvPr id="50" name="Shape 45"/>
          <p:cNvSpPr/>
          <p:nvPr/>
        </p:nvSpPr>
        <p:spPr>
          <a:xfrm>
            <a:off x="548640" y="5550408"/>
            <a:ext cx="109728" cy="10972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51" name="Text 46"/>
          <p:cNvSpPr/>
          <p:nvPr/>
        </p:nvSpPr>
        <p:spPr>
          <a:xfrm>
            <a:off x="822960" y="5404104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all work into a professional, public portfolio for future employers</a:t>
            </a:r>
            <a:endParaRPr lang="en-US" sz="1300" dirty="0"/>
          </a:p>
        </p:txBody>
      </p:sp>
      <p:sp>
        <p:nvSpPr>
          <p:cNvPr id="52" name="Text 47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A7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ApexPlanet Data Analytics Internship  |  Parth Varute — Final Portfolio</a:t>
            </a:r>
            <a:endParaRPr lang="en-US" sz="900" dirty="0"/>
          </a:p>
        </p:txBody>
      </p:sp>
      <p:sp>
        <p:nvSpPr>
          <p:cNvPr id="53" name="Text 48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B8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DEVELOPED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analytics toolkit I built hands-on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242A63"/>
          </a:solidFill>
          <a:ln/>
          <a:effectLst>
            <a:outerShdw blurRad="76200" dist="25400" dir="5400000" algn="bl" rotWithShape="0">
              <a:srgbClr val="1B1F4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85900" y="2075688"/>
            <a:ext cx="731520" cy="73152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6" name="Image 0" descr="/home/claude/portfolio_ppt/icons/pyth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0998" y="2170786"/>
            <a:ext cx="541325" cy="5413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0175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3337560" y="178308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242A63"/>
          </a:solidFill>
          <a:ln/>
          <a:effectLst>
            <a:outerShdw blurRad="76200" dist="25400" dir="5400000" algn="bl" rotWithShape="0">
              <a:srgbClr val="1B1F4B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274820" y="2075688"/>
            <a:ext cx="731520" cy="73152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0" name="Image 1" descr="/home/claude/portfolio_ppt/icons/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9918" y="2170786"/>
            <a:ext cx="541325" cy="5413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29000" y="30175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6126480" y="178308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242A63"/>
          </a:solidFill>
          <a:ln/>
          <a:effectLst>
            <a:outerShdw blurRad="76200" dist="25400" dir="5400000" algn="bl" rotWithShape="0">
              <a:srgbClr val="1B1F4B">
                <a:alpha val="1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063740" y="2075688"/>
            <a:ext cx="731520" cy="73152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4" name="Image 2" descr="/home/claude/portfolio_ppt/icons/exce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8838" y="2170786"/>
            <a:ext cx="541325" cy="54132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217920" y="30175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8915400" y="178308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242A63"/>
          </a:solidFill>
          <a:ln/>
          <a:effectLst>
            <a:outerShdw blurRad="76200" dist="25400" dir="5400000" algn="bl" rotWithShape="0">
              <a:srgbClr val="1B1F4B">
                <a:alpha val="1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9852660" y="2075688"/>
            <a:ext cx="731520" cy="73152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8" name="Image 3" descr="/home/claude/portfolio_ppt/icons/lay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47758" y="2170786"/>
            <a:ext cx="541325" cy="54132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006840" y="30175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450" dirty="0"/>
          </a:p>
        </p:txBody>
      </p:sp>
      <p:sp>
        <p:nvSpPr>
          <p:cNvPr id="20" name="Shape 14"/>
          <p:cNvSpPr/>
          <p:nvPr/>
        </p:nvSpPr>
        <p:spPr>
          <a:xfrm>
            <a:off x="548640" y="397764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242A63"/>
          </a:solidFill>
          <a:ln/>
          <a:effectLst>
            <a:outerShdw blurRad="76200" dist="25400" dir="5400000" algn="bl" rotWithShape="0">
              <a:srgbClr val="1B1F4B">
                <a:alpha val="1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1485900" y="4270248"/>
            <a:ext cx="731520" cy="73152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22" name="Image 4" descr="/home/claude/portfolio_ppt/icons/chartb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80998" y="4365346"/>
            <a:ext cx="541325" cy="54132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0080" y="521208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450" dirty="0"/>
          </a:p>
        </p:txBody>
      </p:sp>
      <p:sp>
        <p:nvSpPr>
          <p:cNvPr id="24" name="Shape 17"/>
          <p:cNvSpPr/>
          <p:nvPr/>
        </p:nvSpPr>
        <p:spPr>
          <a:xfrm>
            <a:off x="3337560" y="397764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242A63"/>
          </a:solidFill>
          <a:ln/>
          <a:effectLst>
            <a:outerShdw blurRad="76200" dist="25400" dir="5400000" algn="bl" rotWithShape="0">
              <a:srgbClr val="1B1F4B">
                <a:alpha val="18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4274820" y="4270248"/>
            <a:ext cx="731520" cy="73152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26" name="Image 5" descr="/home/claude/portfolio_ppt/icons/char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69918" y="4365346"/>
            <a:ext cx="541325" cy="541325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3429000" y="521208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1450" dirty="0"/>
          </a:p>
        </p:txBody>
      </p:sp>
      <p:sp>
        <p:nvSpPr>
          <p:cNvPr id="28" name="Shape 20"/>
          <p:cNvSpPr/>
          <p:nvPr/>
        </p:nvSpPr>
        <p:spPr>
          <a:xfrm>
            <a:off x="6126480" y="397764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242A63"/>
          </a:solidFill>
          <a:ln/>
          <a:effectLst>
            <a:outerShdw blurRad="76200" dist="25400" dir="5400000" algn="bl" rotWithShape="0">
              <a:srgbClr val="1B1F4B">
                <a:alpha val="18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7063740" y="4270248"/>
            <a:ext cx="731520" cy="73152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30" name="Image 6" descr="/home/claude/portfolio_ppt/icons/chartb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58838" y="4365346"/>
            <a:ext cx="541325" cy="541325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217920" y="521208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450" dirty="0"/>
          </a:p>
        </p:txBody>
      </p:sp>
      <p:sp>
        <p:nvSpPr>
          <p:cNvPr id="32" name="Shape 23"/>
          <p:cNvSpPr/>
          <p:nvPr/>
        </p:nvSpPr>
        <p:spPr>
          <a:xfrm>
            <a:off x="8915400" y="397764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242A63"/>
          </a:solidFill>
          <a:ln/>
          <a:effectLst>
            <a:outerShdw blurRad="76200" dist="25400" dir="5400000" algn="bl" rotWithShape="0">
              <a:srgbClr val="1B1F4B">
                <a:alpha val="18000"/>
              </a:srgbClr>
            </a:outerShdw>
          </a:effectLst>
        </p:spPr>
      </p:sp>
      <p:sp>
        <p:nvSpPr>
          <p:cNvPr id="33" name="Shape 24"/>
          <p:cNvSpPr/>
          <p:nvPr/>
        </p:nvSpPr>
        <p:spPr>
          <a:xfrm>
            <a:off x="9852660" y="4270248"/>
            <a:ext cx="731520" cy="73152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34" name="Image 7" descr="/home/claude/portfolio_ppt/icons/gi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47758" y="4365346"/>
            <a:ext cx="541325" cy="541325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9006840" y="521208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450" dirty="0"/>
          </a:p>
        </p:txBody>
      </p:sp>
      <p:sp>
        <p:nvSpPr>
          <p:cNvPr id="36" name="Text 26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ApexPlanet Data Analytics Internship  |  Parth Varute — Final Portfolio</a:t>
            </a:r>
            <a:endParaRPr lang="en-US" sz="900" dirty="0"/>
          </a:p>
        </p:txBody>
      </p:sp>
      <p:sp>
        <p:nvSpPr>
          <p:cNvPr id="37" name="Text 27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8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 OF 4  ·  TASK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8778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Data Cleaning &amp; Preparation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0807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6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00200"/>
            <a:ext cx="457200" cy="457200"/>
          </a:xfrm>
          <a:prstGeom prst="ellipse">
            <a:avLst/>
          </a:prstGeom>
          <a:solidFill>
            <a:srgbClr val="8B85E0"/>
          </a:solidFill>
          <a:ln/>
        </p:spPr>
      </p:sp>
      <p:pic>
        <p:nvPicPr>
          <p:cNvPr id="6" name="Image 0" descr="/home/claude/portfolio_ppt/icons/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" y="1659636"/>
            <a:ext cx="338328" cy="338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48132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8B8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371600" y="1755648"/>
            <a:ext cx="5120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A4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raw ApexPlanet sales export had missing values, duplicate order references, and inconsistent formatting — unusable for analysis as-is.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606040"/>
            <a:ext cx="60807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6F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1520" y="2788920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1" name="Image 1" descr="/home/claude/portfolio_ppt/icons/compa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956" y="2848356"/>
            <a:ext cx="338328" cy="3383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267004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1371600" y="2944368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4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Built a full data dictionary documenting all 12 fields and their business meaning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4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Profiled data quality: missing values, duplicates, outliers (IQR method)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4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Standardized date formats and cleaned free-text category / city fields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4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Engineered features and exported a final analysis-ready dataset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4434840"/>
            <a:ext cx="2926080" cy="1600200"/>
          </a:xfrm>
          <a:prstGeom prst="roundRect">
            <a:avLst>
              <a:gd name="adj" fmla="val 4571"/>
            </a:avLst>
          </a:prstGeom>
          <a:solidFill>
            <a:srgbClr val="242A63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4645152"/>
            <a:ext cx="457200" cy="457200"/>
          </a:xfrm>
          <a:prstGeom prst="ellipse">
            <a:avLst/>
          </a:prstGeom>
          <a:solidFill>
            <a:srgbClr val="1B1F4B"/>
          </a:solidFill>
          <a:ln/>
        </p:spPr>
      </p:sp>
      <p:pic>
        <p:nvPicPr>
          <p:cNvPr id="16" name="Image 2" descr="/home/claude/portfolio_ppt/icons/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676" y="4704588"/>
            <a:ext cx="338328" cy="3383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77240" y="513892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777240" y="539496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sales.csv — 1,000 rows, 12 columns (Order_ID, Customer, Age, City, Product, Category, Total_Sales...)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3703320" y="4434840"/>
            <a:ext cx="2926080" cy="1600200"/>
          </a:xfrm>
          <a:prstGeom prst="roundRect">
            <a:avLst>
              <a:gd name="adj" fmla="val 4571"/>
            </a:avLst>
          </a:prstGeom>
          <a:solidFill>
            <a:srgbClr val="242A63"/>
          </a:solidFill>
          <a:ln/>
        </p:spPr>
      </p:sp>
      <p:sp>
        <p:nvSpPr>
          <p:cNvPr id="20" name="Shape 15"/>
          <p:cNvSpPr/>
          <p:nvPr/>
        </p:nvSpPr>
        <p:spPr>
          <a:xfrm>
            <a:off x="3931920" y="4645152"/>
            <a:ext cx="457200" cy="457200"/>
          </a:xfrm>
          <a:prstGeom prst="ellipse">
            <a:avLst/>
          </a:prstGeom>
          <a:solidFill>
            <a:srgbClr val="1B1F4B"/>
          </a:solidFill>
          <a:ln/>
        </p:spPr>
      </p:sp>
      <p:pic>
        <p:nvPicPr>
          <p:cNvPr id="21" name="Image 3" descr="/home/claude/portfolio_ppt/icons/cod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91356" y="4704588"/>
            <a:ext cx="338328" cy="33832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3931920" y="513892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3931920" y="539496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Pandas, Jupyter Notebook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6903720" y="1417320"/>
            <a:ext cx="4754880" cy="1417320"/>
          </a:xfrm>
          <a:prstGeom prst="roundRect">
            <a:avLst>
              <a:gd name="adj" fmla="val 6452"/>
            </a:avLst>
          </a:prstGeom>
          <a:solidFill>
            <a:srgbClr val="1B1F4B"/>
          </a:solidFill>
          <a:ln/>
        </p:spPr>
      </p:sp>
      <p:sp>
        <p:nvSpPr>
          <p:cNvPr id="25" name="Text 19"/>
          <p:cNvSpPr/>
          <p:nvPr/>
        </p:nvSpPr>
        <p:spPr>
          <a:xfrm>
            <a:off x="7178040" y="157276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7178040" y="182880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992 clean orders</a:t>
            </a:r>
            <a:endParaRPr lang="en-US" sz="2700" dirty="0"/>
          </a:p>
        </p:txBody>
      </p:sp>
      <p:sp>
        <p:nvSpPr>
          <p:cNvPr id="27" name="Text 21"/>
          <p:cNvSpPr/>
          <p:nvPr/>
        </p:nvSpPr>
        <p:spPr>
          <a:xfrm>
            <a:off x="7178040" y="2395728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E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1,000 raw rows → 992 unique, analysis-ready order records across 947 customers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6903720" y="2971800"/>
            <a:ext cx="475488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E3E6F5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7086600" y="309067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before vs. after cleaning</a:t>
            </a:r>
            <a:endParaRPr lang="en-US" sz="1050" dirty="0"/>
          </a:p>
        </p:txBody>
      </p:sp>
      <p:graphicFrame>
        <p:nvGraphicFramePr>
          <p:cNvPr id="30" name="Chart 0"/>
          <p:cNvGraphicFramePr/>
          <p:nvPr/>
        </p:nvGraphicFramePr>
        <p:xfrm>
          <a:off x="7086600" y="3401568"/>
          <a:ext cx="438912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31" name="Text 24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ApexPlanet Data Analytics Internship  |  Parth Varute — Final Portfolio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8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 OF 4  ·  TASK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8778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Analysis &amp; SQL Business Insights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0807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6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00200"/>
            <a:ext cx="457200" cy="457200"/>
          </a:xfrm>
          <a:prstGeom prst="ellipse">
            <a:avLst/>
          </a:prstGeom>
          <a:solidFill>
            <a:srgbClr val="8B85E0"/>
          </a:solidFill>
          <a:ln/>
        </p:spPr>
      </p:sp>
      <p:pic>
        <p:nvPicPr>
          <p:cNvPr id="6" name="Image 0" descr="/home/claude/portfolio_ppt/icons/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" y="1659636"/>
            <a:ext cx="338328" cy="338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48132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8B8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371600" y="1755648"/>
            <a:ext cx="5120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A4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needed fast, reliable answers to core business questions — top products, category performance, monthly trends — straight from the data.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606040"/>
            <a:ext cx="60807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6F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1520" y="2788920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1" name="Image 1" descr="/home/claude/portfolio_ppt/icons/compa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956" y="2848356"/>
            <a:ext cx="338328" cy="3383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267004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1371600" y="2944368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4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Ran descriptive statistics and univariate visualizations across all fields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4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Wrote SQL queries answering 7 business questions using filtering, aggregation &amp; joins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4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Built multivariate views (scatter plots, heatmaps) linking spend, age &amp; category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4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Designed a static KPI dashboard mock-up to guide the Task 3 build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4434840"/>
            <a:ext cx="2926080" cy="1600200"/>
          </a:xfrm>
          <a:prstGeom prst="roundRect">
            <a:avLst>
              <a:gd name="adj" fmla="val 4571"/>
            </a:avLst>
          </a:prstGeom>
          <a:solidFill>
            <a:srgbClr val="242A63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4645152"/>
            <a:ext cx="457200" cy="457200"/>
          </a:xfrm>
          <a:prstGeom prst="ellipse">
            <a:avLst/>
          </a:prstGeom>
          <a:solidFill>
            <a:srgbClr val="1B1F4B"/>
          </a:solidFill>
          <a:ln/>
        </p:spPr>
      </p:sp>
      <p:pic>
        <p:nvPicPr>
          <p:cNvPr id="16" name="Image 2" descr="/home/claude/portfolio_ppt/icons/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676" y="4704588"/>
            <a:ext cx="338328" cy="3383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77240" y="513892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777240" y="539496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sales.csv — 992 cleaned orders, 947 customers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3703320" y="4434840"/>
            <a:ext cx="2926080" cy="1600200"/>
          </a:xfrm>
          <a:prstGeom prst="roundRect">
            <a:avLst>
              <a:gd name="adj" fmla="val 4571"/>
            </a:avLst>
          </a:prstGeom>
          <a:solidFill>
            <a:srgbClr val="242A63"/>
          </a:solidFill>
          <a:ln/>
        </p:spPr>
      </p:sp>
      <p:sp>
        <p:nvSpPr>
          <p:cNvPr id="20" name="Shape 15"/>
          <p:cNvSpPr/>
          <p:nvPr/>
        </p:nvSpPr>
        <p:spPr>
          <a:xfrm>
            <a:off x="3931920" y="4645152"/>
            <a:ext cx="457200" cy="457200"/>
          </a:xfrm>
          <a:prstGeom prst="ellipse">
            <a:avLst/>
          </a:prstGeom>
          <a:solidFill>
            <a:srgbClr val="1B1F4B"/>
          </a:solidFill>
          <a:ln/>
        </p:spPr>
      </p:sp>
      <p:pic>
        <p:nvPicPr>
          <p:cNvPr id="21" name="Image 3" descr="/home/claude/portfolio_ppt/icons/cod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91356" y="4704588"/>
            <a:ext cx="338328" cy="33832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3931920" y="513892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3931920" y="539496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SQL, Python (Pandas, Seaborn, Matplotlib)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6903720" y="1417320"/>
            <a:ext cx="4754880" cy="1417320"/>
          </a:xfrm>
          <a:prstGeom prst="roundRect">
            <a:avLst>
              <a:gd name="adj" fmla="val 6452"/>
            </a:avLst>
          </a:prstGeom>
          <a:solidFill>
            <a:srgbClr val="1B1F4B"/>
          </a:solidFill>
          <a:ln/>
        </p:spPr>
      </p:sp>
      <p:sp>
        <p:nvSpPr>
          <p:cNvPr id="25" name="Text 19"/>
          <p:cNvSpPr/>
          <p:nvPr/>
        </p:nvSpPr>
        <p:spPr>
          <a:xfrm>
            <a:off x="7178040" y="157276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7178040" y="182880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36.4% revenue</a:t>
            </a:r>
            <a:endParaRPr lang="en-US" sz="2700" dirty="0"/>
          </a:p>
        </p:txBody>
      </p:sp>
      <p:sp>
        <p:nvSpPr>
          <p:cNvPr id="27" name="Text 21"/>
          <p:cNvSpPr/>
          <p:nvPr/>
        </p:nvSpPr>
        <p:spPr>
          <a:xfrm>
            <a:off x="7178040" y="2395728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E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emerged as the single largest revenue category — nearly double Education, the runner-up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6903720" y="2971800"/>
            <a:ext cx="475488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E3E6F5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7086600" y="309067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share by product category</a:t>
            </a:r>
            <a:endParaRPr lang="en-US" sz="1050" dirty="0"/>
          </a:p>
        </p:txBody>
      </p:sp>
      <p:graphicFrame>
        <p:nvGraphicFramePr>
          <p:cNvPr id="30" name="Chart 0"/>
          <p:cNvGraphicFramePr/>
          <p:nvPr/>
        </p:nvGraphicFramePr>
        <p:xfrm>
          <a:off x="7086600" y="3401568"/>
          <a:ext cx="438912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31" name="Text 24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ApexPlanet Data Analytics Internship  |  Parth Varute — Final Portfolio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8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 OF 4  ·  TASK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8778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Segmentation &amp; Interactive Dashboard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0807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6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00200"/>
            <a:ext cx="457200" cy="457200"/>
          </a:xfrm>
          <a:prstGeom prst="ellipse">
            <a:avLst/>
          </a:prstGeom>
          <a:solidFill>
            <a:srgbClr val="8B85E0"/>
          </a:solidFill>
          <a:ln/>
        </p:spPr>
      </p:sp>
      <p:pic>
        <p:nvPicPr>
          <p:cNvPr id="6" name="Image 0" descr="/home/claude/portfolio_ppt/icons/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" y="1659636"/>
            <a:ext cx="338328" cy="338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48132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8B8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371600" y="1755648"/>
            <a:ext cx="5120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A4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customers actually drive ApexPlanet's ₹139.4M in revenue — and where should retention and marketing effort be focused?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606040"/>
            <a:ext cx="60807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6F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1520" y="2788920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1" name="Image 1" descr="/home/claude/portfolio_ppt/icons/compa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956" y="2848356"/>
            <a:ext cx="338328" cy="3383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267004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1371600" y="2944368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4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Defined 4 core KPIs: Revenue, AOV, Basket Size, Repeat-Purchase Rate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4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Ran K-Means clustering (k=4, elbow method) on spend, quantity &amp; age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4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Built a functional, interactive Power BI dashboard surfacing all KPIs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4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Enabled drill-down exploration by segment, category &amp; city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4434840"/>
            <a:ext cx="2926080" cy="1600200"/>
          </a:xfrm>
          <a:prstGeom prst="roundRect">
            <a:avLst>
              <a:gd name="adj" fmla="val 4571"/>
            </a:avLst>
          </a:prstGeom>
          <a:solidFill>
            <a:srgbClr val="242A63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4645152"/>
            <a:ext cx="457200" cy="457200"/>
          </a:xfrm>
          <a:prstGeom prst="ellipse">
            <a:avLst/>
          </a:prstGeom>
          <a:solidFill>
            <a:srgbClr val="1B1F4B"/>
          </a:solidFill>
          <a:ln/>
        </p:spPr>
      </p:sp>
      <p:pic>
        <p:nvPicPr>
          <p:cNvPr id="16" name="Image 2" descr="/home/claude/portfolio_ppt/icons/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676" y="4704588"/>
            <a:ext cx="338328" cy="3383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77240" y="513892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777240" y="539496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992 orders · 947 customers · ₹139.4M total revenue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3703320" y="4434840"/>
            <a:ext cx="2926080" cy="1600200"/>
          </a:xfrm>
          <a:prstGeom prst="roundRect">
            <a:avLst>
              <a:gd name="adj" fmla="val 4571"/>
            </a:avLst>
          </a:prstGeom>
          <a:solidFill>
            <a:srgbClr val="242A63"/>
          </a:solidFill>
          <a:ln/>
        </p:spPr>
      </p:sp>
      <p:sp>
        <p:nvSpPr>
          <p:cNvPr id="20" name="Shape 15"/>
          <p:cNvSpPr/>
          <p:nvPr/>
        </p:nvSpPr>
        <p:spPr>
          <a:xfrm>
            <a:off x="3931920" y="4645152"/>
            <a:ext cx="457200" cy="457200"/>
          </a:xfrm>
          <a:prstGeom prst="ellipse">
            <a:avLst/>
          </a:prstGeom>
          <a:solidFill>
            <a:srgbClr val="1B1F4B"/>
          </a:solidFill>
          <a:ln/>
        </p:spPr>
      </p:sp>
      <p:pic>
        <p:nvPicPr>
          <p:cNvPr id="21" name="Image 3" descr="/home/claude/portfolio_ppt/icons/cod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91356" y="4704588"/>
            <a:ext cx="338328" cy="33832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3931920" y="513892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3931920" y="539496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(Scikit-learn), Power BI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6903720" y="1417320"/>
            <a:ext cx="4754880" cy="1417320"/>
          </a:xfrm>
          <a:prstGeom prst="roundRect">
            <a:avLst>
              <a:gd name="adj" fmla="val 6452"/>
            </a:avLst>
          </a:prstGeom>
          <a:solidFill>
            <a:srgbClr val="1B1F4B"/>
          </a:solidFill>
          <a:ln/>
        </p:spPr>
      </p:sp>
      <p:sp>
        <p:nvSpPr>
          <p:cNvPr id="25" name="Text 19"/>
          <p:cNvSpPr/>
          <p:nvPr/>
        </p:nvSpPr>
        <p:spPr>
          <a:xfrm>
            <a:off x="7178040" y="157276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7178040" y="182880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45% from 21%</a:t>
            </a:r>
            <a:endParaRPr lang="en-US" sz="2700" dirty="0"/>
          </a:p>
        </p:txBody>
      </p:sp>
      <p:sp>
        <p:nvSpPr>
          <p:cNvPr id="27" name="Text 21"/>
          <p:cNvSpPr/>
          <p:nvPr/>
        </p:nvSpPr>
        <p:spPr>
          <a:xfrm>
            <a:off x="7178040" y="2395728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E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Bulk Buyers are just 21% of orders but drive 45% of total revenue — 2x the AOV of any other segment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6903720" y="2971800"/>
            <a:ext cx="475488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E3E6F5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7086600" y="309067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Power BI dashboard</a:t>
            </a:r>
            <a:endParaRPr lang="en-US" sz="1050" dirty="0"/>
          </a:p>
        </p:txBody>
      </p:sp>
      <p:pic>
        <p:nvPicPr>
          <p:cNvPr id="30" name="Image 4" descr="/home/claude/portfolio_ppt/icons/dashboard_screenshot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086600" y="3401568"/>
            <a:ext cx="4389120" cy="2514600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7086600" y="3401568"/>
            <a:ext cx="4389120" cy="2514600"/>
          </a:xfrm>
          <a:prstGeom prst="rect">
            <a:avLst/>
          </a:prstGeom>
          <a:ln w="12700">
            <a:solidFill>
              <a:srgbClr val="E3E6F5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ApexPlanet Data Analytics Internship  |  Parth Varute — Final Portfolio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8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4 OF 4  ·  TASK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8778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Validation &amp; Stakeholder Storytelling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0807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6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00200"/>
            <a:ext cx="457200" cy="457200"/>
          </a:xfrm>
          <a:prstGeom prst="ellipse">
            <a:avLst/>
          </a:prstGeom>
          <a:solidFill>
            <a:srgbClr val="8B85E0"/>
          </a:solidFill>
          <a:ln/>
        </p:spPr>
      </p:sp>
      <p:pic>
        <p:nvPicPr>
          <p:cNvPr id="6" name="Image 0" descr="/home/claude/portfolio_ppt/icons/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" y="1659636"/>
            <a:ext cx="338328" cy="338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48132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8B8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371600" y="1755648"/>
            <a:ext cx="5120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A4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basing strategy on the 4 customer segments, leadership needed statistical proof the spend differences were real — not a clustering artifact.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606040"/>
            <a:ext cx="60807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6F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1520" y="2788920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1" name="Image 1" descr="/home/claude/portfolio_ppt/icons/compa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956" y="2848356"/>
            <a:ext cx="338328" cy="3383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267004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1371600" y="2944368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4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Formulated a testable hypothesis on mean order value across segments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4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Ran a one-way ANOVA (scipy.stats.f_oneway) at α = 0.05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4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Confirmed with Tukey HSD post-hoc pairwise comparisons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4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Packaged findings into a stakeholder-ready narrative deck with a call to action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4434840"/>
            <a:ext cx="2926080" cy="1600200"/>
          </a:xfrm>
          <a:prstGeom prst="roundRect">
            <a:avLst>
              <a:gd name="adj" fmla="val 4571"/>
            </a:avLst>
          </a:prstGeom>
          <a:solidFill>
            <a:srgbClr val="242A63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4645152"/>
            <a:ext cx="457200" cy="457200"/>
          </a:xfrm>
          <a:prstGeom prst="ellipse">
            <a:avLst/>
          </a:prstGeom>
          <a:solidFill>
            <a:srgbClr val="1B1F4B"/>
          </a:solidFill>
          <a:ln/>
        </p:spPr>
      </p:sp>
      <p:pic>
        <p:nvPicPr>
          <p:cNvPr id="16" name="Image 2" descr="/home/claude/portfolio_ppt/icons/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676" y="4704588"/>
            <a:ext cx="338328" cy="3383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77240" y="513892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777240" y="539496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992 orders segmented into 4 groups (n = 211–300 each)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3703320" y="4434840"/>
            <a:ext cx="2926080" cy="1600200"/>
          </a:xfrm>
          <a:prstGeom prst="roundRect">
            <a:avLst>
              <a:gd name="adj" fmla="val 4571"/>
            </a:avLst>
          </a:prstGeom>
          <a:solidFill>
            <a:srgbClr val="242A63"/>
          </a:solidFill>
          <a:ln/>
        </p:spPr>
      </p:sp>
      <p:sp>
        <p:nvSpPr>
          <p:cNvPr id="20" name="Shape 15"/>
          <p:cNvSpPr/>
          <p:nvPr/>
        </p:nvSpPr>
        <p:spPr>
          <a:xfrm>
            <a:off x="3931920" y="4645152"/>
            <a:ext cx="457200" cy="457200"/>
          </a:xfrm>
          <a:prstGeom prst="ellipse">
            <a:avLst/>
          </a:prstGeom>
          <a:solidFill>
            <a:srgbClr val="1B1F4B"/>
          </a:solidFill>
          <a:ln/>
        </p:spPr>
      </p:sp>
      <p:pic>
        <p:nvPicPr>
          <p:cNvPr id="21" name="Image 3" descr="/home/claude/portfolio_ppt/icons/cod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91356" y="4704588"/>
            <a:ext cx="338328" cy="33832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3931920" y="513892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3931920" y="539496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(SciPy), PowerPoint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6903720" y="1417320"/>
            <a:ext cx="4754880" cy="1417320"/>
          </a:xfrm>
          <a:prstGeom prst="roundRect">
            <a:avLst>
              <a:gd name="adj" fmla="val 6452"/>
            </a:avLst>
          </a:prstGeom>
          <a:solidFill>
            <a:srgbClr val="1B1F4B"/>
          </a:solidFill>
          <a:ln/>
        </p:spPr>
      </p:sp>
      <p:sp>
        <p:nvSpPr>
          <p:cNvPr id="25" name="Text 19"/>
          <p:cNvSpPr/>
          <p:nvPr/>
        </p:nvSpPr>
        <p:spPr>
          <a:xfrm>
            <a:off x="7178040" y="157276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7178040" y="182880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&lt; 0.001</a:t>
            </a:r>
            <a:endParaRPr lang="en-US" sz="2700" dirty="0"/>
          </a:p>
        </p:txBody>
      </p:sp>
      <p:sp>
        <p:nvSpPr>
          <p:cNvPr id="27" name="Text 21"/>
          <p:cNvSpPr/>
          <p:nvPr/>
        </p:nvSpPr>
        <p:spPr>
          <a:xfrm>
            <a:off x="7178040" y="2395728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E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F(3, 996) = 550.63 — segment differences are statistically significant, not chance. H₀ rejected.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6903720" y="2971800"/>
            <a:ext cx="475488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E3E6F5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7086600" y="309067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order value by segment (₹)</a:t>
            </a:r>
            <a:endParaRPr lang="en-US" sz="1050" dirty="0"/>
          </a:p>
        </p:txBody>
      </p:sp>
      <p:graphicFrame>
        <p:nvGraphicFramePr>
          <p:cNvPr id="30" name="Chart 0"/>
          <p:cNvGraphicFramePr/>
          <p:nvPr/>
        </p:nvGraphicFramePr>
        <p:xfrm>
          <a:off x="7086600" y="3401568"/>
          <a:ext cx="438912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31" name="Text 24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ApexPlanet Data Analytics Internship  |  Parth Varute — Final Portfolio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1F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0" y="457200"/>
            <a:ext cx="54864" cy="54864"/>
          </a:xfrm>
          <a:prstGeom prst="ellipse">
            <a:avLst/>
          </a:prstGeom>
          <a:solidFill>
            <a:srgbClr val="8B85E0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0" y="603504"/>
            <a:ext cx="54864" cy="54864"/>
          </a:xfrm>
          <a:prstGeom prst="ellipse">
            <a:avLst/>
          </a:prstGeom>
          <a:solidFill>
            <a:srgbClr val="8B85E0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0" y="749808"/>
            <a:ext cx="54864" cy="54864"/>
          </a:xfrm>
          <a:prstGeom prst="ellipse">
            <a:avLst/>
          </a:prstGeom>
          <a:solidFill>
            <a:srgbClr val="8B85E0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0" y="896112"/>
            <a:ext cx="54864" cy="54864"/>
          </a:xfrm>
          <a:prstGeom prst="ellipse">
            <a:avLst/>
          </a:prstGeom>
          <a:solidFill>
            <a:srgbClr val="8B85E0"/>
          </a:solidFill>
          <a:ln/>
        </p:spPr>
      </p:sp>
      <p:sp>
        <p:nvSpPr>
          <p:cNvPr id="6" name="Shape 4"/>
          <p:cNvSpPr/>
          <p:nvPr/>
        </p:nvSpPr>
        <p:spPr>
          <a:xfrm>
            <a:off x="11119104" y="457200"/>
            <a:ext cx="54864" cy="54864"/>
          </a:xfrm>
          <a:prstGeom prst="ellipse">
            <a:avLst/>
          </a:prstGeom>
          <a:solidFill>
            <a:srgbClr val="8B85E0"/>
          </a:solidFill>
          <a:ln/>
        </p:spPr>
      </p:sp>
      <p:sp>
        <p:nvSpPr>
          <p:cNvPr id="7" name="Shape 5"/>
          <p:cNvSpPr/>
          <p:nvPr/>
        </p:nvSpPr>
        <p:spPr>
          <a:xfrm>
            <a:off x="11119104" y="603504"/>
            <a:ext cx="54864" cy="54864"/>
          </a:xfrm>
          <a:prstGeom prst="ellipse">
            <a:avLst/>
          </a:prstGeom>
          <a:solidFill>
            <a:srgbClr val="8B85E0"/>
          </a:solidFill>
          <a:ln/>
        </p:spPr>
      </p:sp>
      <p:sp>
        <p:nvSpPr>
          <p:cNvPr id="8" name="Shape 6"/>
          <p:cNvSpPr/>
          <p:nvPr/>
        </p:nvSpPr>
        <p:spPr>
          <a:xfrm>
            <a:off x="11119104" y="749808"/>
            <a:ext cx="54864" cy="54864"/>
          </a:xfrm>
          <a:prstGeom prst="ellipse">
            <a:avLst/>
          </a:prstGeom>
          <a:solidFill>
            <a:srgbClr val="8B85E0"/>
          </a:solidFill>
          <a:ln/>
        </p:spPr>
      </p:sp>
      <p:sp>
        <p:nvSpPr>
          <p:cNvPr id="9" name="Shape 7"/>
          <p:cNvSpPr/>
          <p:nvPr/>
        </p:nvSpPr>
        <p:spPr>
          <a:xfrm>
            <a:off x="11119104" y="896112"/>
            <a:ext cx="54864" cy="54864"/>
          </a:xfrm>
          <a:prstGeom prst="ellipse">
            <a:avLst/>
          </a:prstGeom>
          <a:solidFill>
            <a:srgbClr val="8B85E0"/>
          </a:solidFill>
          <a:ln/>
        </p:spPr>
      </p:sp>
      <p:sp>
        <p:nvSpPr>
          <p:cNvPr id="10" name="Shape 8"/>
          <p:cNvSpPr/>
          <p:nvPr/>
        </p:nvSpPr>
        <p:spPr>
          <a:xfrm>
            <a:off x="11265408" y="457200"/>
            <a:ext cx="54864" cy="54864"/>
          </a:xfrm>
          <a:prstGeom prst="ellipse">
            <a:avLst/>
          </a:prstGeom>
          <a:solidFill>
            <a:srgbClr val="8B85E0"/>
          </a:solidFill>
          <a:ln/>
        </p:spPr>
      </p:sp>
      <p:sp>
        <p:nvSpPr>
          <p:cNvPr id="11" name="Shape 9"/>
          <p:cNvSpPr/>
          <p:nvPr/>
        </p:nvSpPr>
        <p:spPr>
          <a:xfrm>
            <a:off x="11265408" y="603504"/>
            <a:ext cx="54864" cy="54864"/>
          </a:xfrm>
          <a:prstGeom prst="ellipse">
            <a:avLst/>
          </a:prstGeom>
          <a:solidFill>
            <a:srgbClr val="8B85E0"/>
          </a:solidFill>
          <a:ln/>
        </p:spPr>
      </p:sp>
      <p:sp>
        <p:nvSpPr>
          <p:cNvPr id="12" name="Shape 10"/>
          <p:cNvSpPr/>
          <p:nvPr/>
        </p:nvSpPr>
        <p:spPr>
          <a:xfrm>
            <a:off x="11265408" y="749808"/>
            <a:ext cx="54864" cy="54864"/>
          </a:xfrm>
          <a:prstGeom prst="ellipse">
            <a:avLst/>
          </a:prstGeom>
          <a:solidFill>
            <a:srgbClr val="8B85E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265408" y="896112"/>
            <a:ext cx="54864" cy="54864"/>
          </a:xfrm>
          <a:prstGeom prst="ellipse">
            <a:avLst/>
          </a:prstGeom>
          <a:solidFill>
            <a:srgbClr val="8B85E0"/>
          </a:solidFill>
          <a:ln/>
        </p:spPr>
      </p:sp>
      <p:sp>
        <p:nvSpPr>
          <p:cNvPr id="14" name="Shape 12"/>
          <p:cNvSpPr/>
          <p:nvPr/>
        </p:nvSpPr>
        <p:spPr>
          <a:xfrm>
            <a:off x="11411712" y="457200"/>
            <a:ext cx="54864" cy="54864"/>
          </a:xfrm>
          <a:prstGeom prst="ellipse">
            <a:avLst/>
          </a:prstGeom>
          <a:solidFill>
            <a:srgbClr val="8B85E0"/>
          </a:solidFill>
          <a:ln/>
        </p:spPr>
      </p:sp>
      <p:sp>
        <p:nvSpPr>
          <p:cNvPr id="15" name="Shape 13"/>
          <p:cNvSpPr/>
          <p:nvPr/>
        </p:nvSpPr>
        <p:spPr>
          <a:xfrm>
            <a:off x="11411712" y="603504"/>
            <a:ext cx="54864" cy="54864"/>
          </a:xfrm>
          <a:prstGeom prst="ellipse">
            <a:avLst/>
          </a:prstGeom>
          <a:solidFill>
            <a:srgbClr val="8B85E0"/>
          </a:solidFill>
          <a:ln/>
        </p:spPr>
      </p:sp>
      <p:sp>
        <p:nvSpPr>
          <p:cNvPr id="16" name="Shape 14"/>
          <p:cNvSpPr/>
          <p:nvPr/>
        </p:nvSpPr>
        <p:spPr>
          <a:xfrm>
            <a:off x="11411712" y="749808"/>
            <a:ext cx="54864" cy="54864"/>
          </a:xfrm>
          <a:prstGeom prst="ellipse">
            <a:avLst/>
          </a:prstGeom>
          <a:solidFill>
            <a:srgbClr val="8B85E0"/>
          </a:solidFill>
          <a:ln/>
        </p:spPr>
      </p:sp>
      <p:sp>
        <p:nvSpPr>
          <p:cNvPr id="17" name="Shape 15"/>
          <p:cNvSpPr/>
          <p:nvPr/>
        </p:nvSpPr>
        <p:spPr>
          <a:xfrm>
            <a:off x="11411712" y="896112"/>
            <a:ext cx="54864" cy="54864"/>
          </a:xfrm>
          <a:prstGeom prst="ellipse">
            <a:avLst/>
          </a:prstGeom>
          <a:solidFill>
            <a:srgbClr val="8B85E0"/>
          </a:solidFill>
          <a:ln/>
        </p:spPr>
      </p:sp>
      <p:sp>
        <p:nvSpPr>
          <p:cNvPr id="18" name="Shape 16"/>
          <p:cNvSpPr/>
          <p:nvPr/>
        </p:nvSpPr>
        <p:spPr>
          <a:xfrm>
            <a:off x="11558016" y="457200"/>
            <a:ext cx="54864" cy="54864"/>
          </a:xfrm>
          <a:prstGeom prst="ellipse">
            <a:avLst/>
          </a:prstGeom>
          <a:solidFill>
            <a:srgbClr val="8B85E0"/>
          </a:solidFill>
          <a:ln/>
        </p:spPr>
      </p:sp>
      <p:sp>
        <p:nvSpPr>
          <p:cNvPr id="19" name="Shape 17"/>
          <p:cNvSpPr/>
          <p:nvPr/>
        </p:nvSpPr>
        <p:spPr>
          <a:xfrm>
            <a:off x="11558016" y="603504"/>
            <a:ext cx="54864" cy="54864"/>
          </a:xfrm>
          <a:prstGeom prst="ellipse">
            <a:avLst/>
          </a:prstGeom>
          <a:solidFill>
            <a:srgbClr val="8B85E0"/>
          </a:solidFill>
          <a:ln/>
        </p:spPr>
      </p:sp>
      <p:sp>
        <p:nvSpPr>
          <p:cNvPr id="20" name="Shape 18"/>
          <p:cNvSpPr/>
          <p:nvPr/>
        </p:nvSpPr>
        <p:spPr>
          <a:xfrm>
            <a:off x="11558016" y="749808"/>
            <a:ext cx="54864" cy="54864"/>
          </a:xfrm>
          <a:prstGeom prst="ellipse">
            <a:avLst/>
          </a:prstGeom>
          <a:solidFill>
            <a:srgbClr val="8B85E0"/>
          </a:solidFill>
          <a:ln/>
        </p:spPr>
      </p:sp>
      <p:sp>
        <p:nvSpPr>
          <p:cNvPr id="21" name="Shape 19"/>
          <p:cNvSpPr/>
          <p:nvPr/>
        </p:nvSpPr>
        <p:spPr>
          <a:xfrm>
            <a:off x="11558016" y="896112"/>
            <a:ext cx="54864" cy="54864"/>
          </a:xfrm>
          <a:prstGeom prst="ellipse">
            <a:avLst/>
          </a:prstGeom>
          <a:solidFill>
            <a:srgbClr val="8B85E0"/>
          </a:solidFill>
          <a:ln/>
        </p:spPr>
      </p:sp>
      <p:sp>
        <p:nvSpPr>
          <p:cNvPr id="22" name="Shape 20"/>
          <p:cNvSpPr/>
          <p:nvPr/>
        </p:nvSpPr>
        <p:spPr>
          <a:xfrm>
            <a:off x="11704320" y="457200"/>
            <a:ext cx="54864" cy="54864"/>
          </a:xfrm>
          <a:prstGeom prst="ellipse">
            <a:avLst/>
          </a:prstGeom>
          <a:solidFill>
            <a:srgbClr val="8B85E0"/>
          </a:solidFill>
          <a:ln/>
        </p:spPr>
      </p:sp>
      <p:sp>
        <p:nvSpPr>
          <p:cNvPr id="23" name="Shape 21"/>
          <p:cNvSpPr/>
          <p:nvPr/>
        </p:nvSpPr>
        <p:spPr>
          <a:xfrm>
            <a:off x="11704320" y="603504"/>
            <a:ext cx="54864" cy="54864"/>
          </a:xfrm>
          <a:prstGeom prst="ellipse">
            <a:avLst/>
          </a:prstGeom>
          <a:solidFill>
            <a:srgbClr val="8B85E0"/>
          </a:solidFill>
          <a:ln/>
        </p:spPr>
      </p:sp>
      <p:sp>
        <p:nvSpPr>
          <p:cNvPr id="24" name="Shape 22"/>
          <p:cNvSpPr/>
          <p:nvPr/>
        </p:nvSpPr>
        <p:spPr>
          <a:xfrm>
            <a:off x="11704320" y="749808"/>
            <a:ext cx="54864" cy="54864"/>
          </a:xfrm>
          <a:prstGeom prst="ellipse">
            <a:avLst/>
          </a:prstGeom>
          <a:solidFill>
            <a:srgbClr val="8B85E0"/>
          </a:solidFill>
          <a:ln/>
        </p:spPr>
      </p:sp>
      <p:sp>
        <p:nvSpPr>
          <p:cNvPr id="25" name="Shape 23"/>
          <p:cNvSpPr/>
          <p:nvPr/>
        </p:nvSpPr>
        <p:spPr>
          <a:xfrm>
            <a:off x="11704320" y="896112"/>
            <a:ext cx="54864" cy="54864"/>
          </a:xfrm>
          <a:prstGeom prst="ellipse">
            <a:avLst/>
          </a:prstGeom>
          <a:solidFill>
            <a:srgbClr val="8B85E0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74980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capabilities I can now put to work</a:t>
            </a:r>
            <a:endParaRPr lang="en-US" sz="3000" dirty="0"/>
          </a:p>
        </p:txBody>
      </p:sp>
      <p:sp>
        <p:nvSpPr>
          <p:cNvPr id="28" name="Shape 26"/>
          <p:cNvSpPr/>
          <p:nvPr/>
        </p:nvSpPr>
        <p:spPr>
          <a:xfrm>
            <a:off x="548640" y="1691640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2B2F77"/>
          </a:solidFill>
          <a:ln/>
        </p:spPr>
      </p:sp>
      <p:sp>
        <p:nvSpPr>
          <p:cNvPr id="29" name="Shape 27"/>
          <p:cNvSpPr/>
          <p:nvPr/>
        </p:nvSpPr>
        <p:spPr>
          <a:xfrm>
            <a:off x="731520" y="1874520"/>
            <a:ext cx="548640" cy="54864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30" name="Image 0" descr="/home/claude/portfolio_ppt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843" y="1945843"/>
            <a:ext cx="405994" cy="405994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463040" y="1691640"/>
            <a:ext cx="4251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6172200" y="1691640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2B2F77"/>
          </a:solidFill>
          <a:ln/>
        </p:spPr>
      </p:sp>
      <p:sp>
        <p:nvSpPr>
          <p:cNvPr id="33" name="Shape 30"/>
          <p:cNvSpPr/>
          <p:nvPr/>
        </p:nvSpPr>
        <p:spPr>
          <a:xfrm>
            <a:off x="6355080" y="1874520"/>
            <a:ext cx="548640" cy="54864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34" name="Image 1" descr="/home/claude/portfolio_ppt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6403" y="1945843"/>
            <a:ext cx="405994" cy="405994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7086600" y="1691640"/>
            <a:ext cx="4251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500" dirty="0"/>
          </a:p>
        </p:txBody>
      </p:sp>
      <p:sp>
        <p:nvSpPr>
          <p:cNvPr id="36" name="Shape 32"/>
          <p:cNvSpPr/>
          <p:nvPr/>
        </p:nvSpPr>
        <p:spPr>
          <a:xfrm>
            <a:off x="548640" y="2807208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2B2F77"/>
          </a:solidFill>
          <a:ln/>
        </p:spPr>
      </p:sp>
      <p:sp>
        <p:nvSpPr>
          <p:cNvPr id="37" name="Shape 33"/>
          <p:cNvSpPr/>
          <p:nvPr/>
        </p:nvSpPr>
        <p:spPr>
          <a:xfrm>
            <a:off x="731520" y="2990088"/>
            <a:ext cx="548640" cy="54864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38" name="Image 2" descr="/home/claude/portfolio_ppt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843" y="3061411"/>
            <a:ext cx="405994" cy="405994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1463040" y="2807208"/>
            <a:ext cx="4251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Querying</a:t>
            </a:r>
            <a:endParaRPr lang="en-US" sz="1500" dirty="0"/>
          </a:p>
        </p:txBody>
      </p:sp>
      <p:sp>
        <p:nvSpPr>
          <p:cNvPr id="40" name="Shape 35"/>
          <p:cNvSpPr/>
          <p:nvPr/>
        </p:nvSpPr>
        <p:spPr>
          <a:xfrm>
            <a:off x="6172200" y="2807208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2B2F77"/>
          </a:solidFill>
          <a:ln/>
        </p:spPr>
      </p:sp>
      <p:sp>
        <p:nvSpPr>
          <p:cNvPr id="41" name="Shape 36"/>
          <p:cNvSpPr/>
          <p:nvPr/>
        </p:nvSpPr>
        <p:spPr>
          <a:xfrm>
            <a:off x="6355080" y="2990088"/>
            <a:ext cx="548640" cy="54864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42" name="Image 3" descr="/home/claude/portfolio_ppt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6403" y="3061411"/>
            <a:ext cx="405994" cy="405994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7086600" y="2807208"/>
            <a:ext cx="4251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Development</a:t>
            </a:r>
            <a:endParaRPr lang="en-US" sz="1500" dirty="0"/>
          </a:p>
        </p:txBody>
      </p:sp>
      <p:sp>
        <p:nvSpPr>
          <p:cNvPr id="44" name="Shape 38"/>
          <p:cNvSpPr/>
          <p:nvPr/>
        </p:nvSpPr>
        <p:spPr>
          <a:xfrm>
            <a:off x="548640" y="3922776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2B2F77"/>
          </a:solidFill>
          <a:ln/>
        </p:spPr>
      </p:sp>
      <p:sp>
        <p:nvSpPr>
          <p:cNvPr id="45" name="Shape 39"/>
          <p:cNvSpPr/>
          <p:nvPr/>
        </p:nvSpPr>
        <p:spPr>
          <a:xfrm>
            <a:off x="731520" y="4105656"/>
            <a:ext cx="548640" cy="54864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46" name="Image 4" descr="/home/claude/portfolio_ppt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843" y="4176979"/>
            <a:ext cx="405994" cy="405994"/>
          </a:xfrm>
          <a:prstGeom prst="rect">
            <a:avLst/>
          </a:prstGeom>
        </p:spPr>
      </p:pic>
      <p:sp>
        <p:nvSpPr>
          <p:cNvPr id="47" name="Text 40"/>
          <p:cNvSpPr/>
          <p:nvPr/>
        </p:nvSpPr>
        <p:spPr>
          <a:xfrm>
            <a:off x="1463040" y="3922776"/>
            <a:ext cx="4251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1500" dirty="0"/>
          </a:p>
        </p:txBody>
      </p:sp>
      <p:sp>
        <p:nvSpPr>
          <p:cNvPr id="48" name="Shape 41"/>
          <p:cNvSpPr/>
          <p:nvPr/>
        </p:nvSpPr>
        <p:spPr>
          <a:xfrm>
            <a:off x="6172200" y="3922776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2B2F77"/>
          </a:solidFill>
          <a:ln/>
        </p:spPr>
      </p:sp>
      <p:sp>
        <p:nvSpPr>
          <p:cNvPr id="49" name="Shape 42"/>
          <p:cNvSpPr/>
          <p:nvPr/>
        </p:nvSpPr>
        <p:spPr>
          <a:xfrm>
            <a:off x="6355080" y="4105656"/>
            <a:ext cx="548640" cy="54864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50" name="Image 5" descr="/home/claude/portfolio_ppt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6403" y="4176979"/>
            <a:ext cx="405994" cy="405994"/>
          </a:xfrm>
          <a:prstGeom prst="rect">
            <a:avLst/>
          </a:prstGeom>
        </p:spPr>
      </p:pic>
      <p:sp>
        <p:nvSpPr>
          <p:cNvPr id="51" name="Text 43"/>
          <p:cNvSpPr/>
          <p:nvPr/>
        </p:nvSpPr>
        <p:spPr>
          <a:xfrm>
            <a:off x="7086600" y="3922776"/>
            <a:ext cx="4251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</a:t>
            </a:r>
            <a:endParaRPr lang="en-US" sz="1500" dirty="0"/>
          </a:p>
        </p:txBody>
      </p:sp>
      <p:sp>
        <p:nvSpPr>
          <p:cNvPr id="52" name="Shape 44"/>
          <p:cNvSpPr/>
          <p:nvPr/>
        </p:nvSpPr>
        <p:spPr>
          <a:xfrm>
            <a:off x="548640" y="5038344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2B2F77"/>
          </a:solidFill>
          <a:ln/>
        </p:spPr>
      </p:sp>
      <p:sp>
        <p:nvSpPr>
          <p:cNvPr id="53" name="Shape 45"/>
          <p:cNvSpPr/>
          <p:nvPr/>
        </p:nvSpPr>
        <p:spPr>
          <a:xfrm>
            <a:off x="731520" y="5221224"/>
            <a:ext cx="548640" cy="54864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54" name="Image 6" descr="/home/claude/portfolio_ppt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843" y="5292547"/>
            <a:ext cx="405994" cy="405994"/>
          </a:xfrm>
          <a:prstGeom prst="rect">
            <a:avLst/>
          </a:prstGeom>
        </p:spPr>
      </p:pic>
      <p:sp>
        <p:nvSpPr>
          <p:cNvPr id="55" name="Text 46"/>
          <p:cNvSpPr/>
          <p:nvPr/>
        </p:nvSpPr>
        <p:spPr>
          <a:xfrm>
            <a:off x="1463040" y="5038344"/>
            <a:ext cx="4251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 Workflow</a:t>
            </a:r>
            <a:endParaRPr lang="en-US" sz="1500" dirty="0"/>
          </a:p>
        </p:txBody>
      </p:sp>
      <p:sp>
        <p:nvSpPr>
          <p:cNvPr id="56" name="Shape 47"/>
          <p:cNvSpPr/>
          <p:nvPr/>
        </p:nvSpPr>
        <p:spPr>
          <a:xfrm>
            <a:off x="6172200" y="5038344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2B2F77"/>
          </a:solidFill>
          <a:ln/>
        </p:spPr>
      </p:sp>
      <p:sp>
        <p:nvSpPr>
          <p:cNvPr id="57" name="Shape 48"/>
          <p:cNvSpPr/>
          <p:nvPr/>
        </p:nvSpPr>
        <p:spPr>
          <a:xfrm>
            <a:off x="6355080" y="5221224"/>
            <a:ext cx="548640" cy="54864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58" name="Image 7" descr="/home/claude/portfolio_ppt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6403" y="5292547"/>
            <a:ext cx="405994" cy="405994"/>
          </a:xfrm>
          <a:prstGeom prst="rect">
            <a:avLst/>
          </a:prstGeom>
        </p:spPr>
      </p:pic>
      <p:sp>
        <p:nvSpPr>
          <p:cNvPr id="59" name="Text 49"/>
          <p:cNvSpPr/>
          <p:nvPr/>
        </p:nvSpPr>
        <p:spPr>
          <a:xfrm>
            <a:off x="7086600" y="5038344"/>
            <a:ext cx="4251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Skills</a:t>
            </a:r>
            <a:endParaRPr lang="en-US" sz="1500" dirty="0"/>
          </a:p>
        </p:txBody>
      </p:sp>
      <p:sp>
        <p:nvSpPr>
          <p:cNvPr id="60" name="Text 50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A7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ApexPlanet Data Analytics Internship  |  Parth Varute — Final Portfolio</a:t>
            </a:r>
            <a:endParaRPr lang="en-US" sz="900" dirty="0"/>
          </a:p>
        </p:txBody>
      </p:sp>
      <p:sp>
        <p:nvSpPr>
          <p:cNvPr id="61" name="Text 51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B8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REFLECTION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academic theory to practical analytics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4297680"/>
          </a:xfrm>
          <a:prstGeom prst="roundRect">
            <a:avLst>
              <a:gd name="adj" fmla="val 2979"/>
            </a:avLst>
          </a:prstGeom>
          <a:solidFill>
            <a:srgbClr val="1B1F4B"/>
          </a:solidFill>
          <a:ln/>
        </p:spPr>
      </p:sp>
      <p:pic>
        <p:nvPicPr>
          <p:cNvPr id="5" name="Image 0" descr="/home/claude/portfolio_ppt/icons/quo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9659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2606040"/>
            <a:ext cx="94183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7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internship helped me bridge the gap between academic knowledge and practical data analytics. I gained experience working with real datasets, analyzing information, creating visualizations, and communicating insights to a business audience.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Moving through five structured tasks — from cleaning raw sales data to defending statistically validated recommendations — taught me that great analysis isn't just about the numbers. It's about asking the right business question first, and never losing sight of it.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1371600" y="5394960"/>
            <a:ext cx="914400" cy="0"/>
          </a:xfrm>
          <a:prstGeom prst="line">
            <a:avLst/>
          </a:prstGeom>
          <a:noFill/>
          <a:ln w="25400">
            <a:solidFill>
              <a:srgbClr val="00C2A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371600" y="5532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Parth Varute  ·  Data Analytics Intern, ApexPlanet Software Pvt. Ltd.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ApexPlanet Data Analytics Internship  |  Parth Varute — Final Portfolio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1F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0" y="411480"/>
            <a:ext cx="54864" cy="54864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0" y="557784"/>
            <a:ext cx="54864" cy="54864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0" y="704088"/>
            <a:ext cx="54864" cy="54864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0" y="850392"/>
            <a:ext cx="54864" cy="54864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6" name="Shape 4"/>
          <p:cNvSpPr/>
          <p:nvPr/>
        </p:nvSpPr>
        <p:spPr>
          <a:xfrm>
            <a:off x="11119104" y="411480"/>
            <a:ext cx="54864" cy="54864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7" name="Shape 5"/>
          <p:cNvSpPr/>
          <p:nvPr/>
        </p:nvSpPr>
        <p:spPr>
          <a:xfrm>
            <a:off x="11119104" y="557784"/>
            <a:ext cx="54864" cy="54864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8" name="Shape 6"/>
          <p:cNvSpPr/>
          <p:nvPr/>
        </p:nvSpPr>
        <p:spPr>
          <a:xfrm>
            <a:off x="11119104" y="704088"/>
            <a:ext cx="54864" cy="54864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9" name="Shape 7"/>
          <p:cNvSpPr/>
          <p:nvPr/>
        </p:nvSpPr>
        <p:spPr>
          <a:xfrm>
            <a:off x="11119104" y="850392"/>
            <a:ext cx="54864" cy="54864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0" name="Shape 8"/>
          <p:cNvSpPr/>
          <p:nvPr/>
        </p:nvSpPr>
        <p:spPr>
          <a:xfrm>
            <a:off x="11265408" y="411480"/>
            <a:ext cx="54864" cy="54864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1" name="Shape 9"/>
          <p:cNvSpPr/>
          <p:nvPr/>
        </p:nvSpPr>
        <p:spPr>
          <a:xfrm>
            <a:off x="11265408" y="557784"/>
            <a:ext cx="54864" cy="54864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2" name="Shape 10"/>
          <p:cNvSpPr/>
          <p:nvPr/>
        </p:nvSpPr>
        <p:spPr>
          <a:xfrm>
            <a:off x="11265408" y="704088"/>
            <a:ext cx="54864" cy="54864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3" name="Shape 11"/>
          <p:cNvSpPr/>
          <p:nvPr/>
        </p:nvSpPr>
        <p:spPr>
          <a:xfrm>
            <a:off x="11265408" y="850392"/>
            <a:ext cx="54864" cy="54864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4" name="Shape 12"/>
          <p:cNvSpPr/>
          <p:nvPr/>
        </p:nvSpPr>
        <p:spPr>
          <a:xfrm>
            <a:off x="11411712" y="411480"/>
            <a:ext cx="54864" cy="54864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5" name="Shape 13"/>
          <p:cNvSpPr/>
          <p:nvPr/>
        </p:nvSpPr>
        <p:spPr>
          <a:xfrm>
            <a:off x="11411712" y="557784"/>
            <a:ext cx="54864" cy="54864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6" name="Shape 14"/>
          <p:cNvSpPr/>
          <p:nvPr/>
        </p:nvSpPr>
        <p:spPr>
          <a:xfrm>
            <a:off x="11411712" y="704088"/>
            <a:ext cx="54864" cy="54864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7" name="Shape 15"/>
          <p:cNvSpPr/>
          <p:nvPr/>
        </p:nvSpPr>
        <p:spPr>
          <a:xfrm>
            <a:off x="11411712" y="850392"/>
            <a:ext cx="54864" cy="54864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8" name="Shape 16"/>
          <p:cNvSpPr/>
          <p:nvPr/>
        </p:nvSpPr>
        <p:spPr>
          <a:xfrm>
            <a:off x="11558016" y="411480"/>
            <a:ext cx="54864" cy="54864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9" name="Shape 17"/>
          <p:cNvSpPr/>
          <p:nvPr/>
        </p:nvSpPr>
        <p:spPr>
          <a:xfrm>
            <a:off x="11558016" y="557784"/>
            <a:ext cx="54864" cy="54864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0" name="Shape 18"/>
          <p:cNvSpPr/>
          <p:nvPr/>
        </p:nvSpPr>
        <p:spPr>
          <a:xfrm>
            <a:off x="11558016" y="704088"/>
            <a:ext cx="54864" cy="54864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1" name="Shape 19"/>
          <p:cNvSpPr/>
          <p:nvPr/>
        </p:nvSpPr>
        <p:spPr>
          <a:xfrm>
            <a:off x="11558016" y="850392"/>
            <a:ext cx="54864" cy="54864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2" name="Shape 20"/>
          <p:cNvSpPr/>
          <p:nvPr/>
        </p:nvSpPr>
        <p:spPr>
          <a:xfrm>
            <a:off x="11704320" y="411480"/>
            <a:ext cx="54864" cy="54864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3" name="Shape 21"/>
          <p:cNvSpPr/>
          <p:nvPr/>
        </p:nvSpPr>
        <p:spPr>
          <a:xfrm>
            <a:off x="11704320" y="557784"/>
            <a:ext cx="54864" cy="54864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4" name="Shape 22"/>
          <p:cNvSpPr/>
          <p:nvPr/>
        </p:nvSpPr>
        <p:spPr>
          <a:xfrm>
            <a:off x="11704320" y="704088"/>
            <a:ext cx="54864" cy="54864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5" name="Shape 23"/>
          <p:cNvSpPr/>
          <p:nvPr/>
        </p:nvSpPr>
        <p:spPr>
          <a:xfrm>
            <a:off x="11704320" y="850392"/>
            <a:ext cx="54864" cy="54864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685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COMPLETE PORTFOLIO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8640" y="10972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task, one repository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548640" y="187452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E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master repository brings together all five internship tasks — data dictionary, cleaning scripts, EDA notebooks, the interactive Power BI dashboard, statistical tests, and the final presentation deck — in one polished, professional reference.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3063240"/>
            <a:ext cx="548640" cy="548640"/>
          </a:xfrm>
          <a:prstGeom prst="ellipse">
            <a:avLst/>
          </a:prstGeom>
          <a:solidFill>
            <a:srgbClr val="2B2F77"/>
          </a:solidFill>
          <a:ln/>
        </p:spPr>
      </p:sp>
      <p:pic>
        <p:nvPicPr>
          <p:cNvPr id="30" name="Image 0" descr="/home/claude/portfolio_ppt/icons/githu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" y="3134563"/>
            <a:ext cx="405994" cy="405994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234440" y="3108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100" dirty="0"/>
          </a:p>
        </p:txBody>
      </p:sp>
      <p:sp>
        <p:nvSpPr>
          <p:cNvPr id="32" name="Text 29">
            <a:hlinkClick r:id="rId4"/>
          </p:cNvPr>
          <p:cNvSpPr/>
          <p:nvPr/>
        </p:nvSpPr>
        <p:spPr>
          <a:xfrm>
            <a:off x="1234440" y="3364992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github.com/parthvarute09/</a:t>
            </a:r>
            <a:r>
              <a:rPr lang="en-US" sz="1400" b="1" u="sng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ParthVarute</a:t>
            </a: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-Data-Analyst-Portfolio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594360" y="4032504"/>
            <a:ext cx="91440" cy="9144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34" name="Text 31"/>
          <p:cNvSpPr/>
          <p:nvPr/>
        </p:nvSpPr>
        <p:spPr>
          <a:xfrm>
            <a:off x="822960" y="390448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overview &amp; skills summary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594360" y="4416552"/>
            <a:ext cx="91440" cy="9144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36" name="Text 33"/>
          <p:cNvSpPr/>
          <p:nvPr/>
        </p:nvSpPr>
        <p:spPr>
          <a:xfrm>
            <a:off x="822960" y="4288536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to all 4 task-specific repos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594360" y="4800600"/>
            <a:ext cx="91440" cy="9144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38" name="Text 35"/>
          <p:cNvSpPr/>
          <p:nvPr/>
        </p:nvSpPr>
        <p:spPr>
          <a:xfrm>
            <a:off x="822960" y="4672584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presentation deck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594360" y="5184648"/>
            <a:ext cx="91440" cy="9144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40" name="Text 37"/>
          <p:cNvSpPr/>
          <p:nvPr/>
        </p:nvSpPr>
        <p:spPr>
          <a:xfrm>
            <a:off x="822960" y="505663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Power BI dashboard link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8138160" y="1737360"/>
            <a:ext cx="3566160" cy="42976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42" name="Image 1" descr="/home/claude/portfolio_ppt/icons/qr_portfoli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9640" y="2148840"/>
            <a:ext cx="2743200" cy="2743200"/>
          </a:xfrm>
          <a:prstGeom prst="rect">
            <a:avLst/>
          </a:prstGeom>
        </p:spPr>
      </p:pic>
      <p:sp>
        <p:nvSpPr>
          <p:cNvPr id="43" name="Text 39"/>
          <p:cNvSpPr/>
          <p:nvPr/>
        </p:nvSpPr>
        <p:spPr>
          <a:xfrm>
            <a:off x="8138160" y="49834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1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TO VIEW</a:t>
            </a:r>
            <a:endParaRPr lang="en-US" sz="1100" dirty="0"/>
          </a:p>
        </p:txBody>
      </p:sp>
      <p:sp>
        <p:nvSpPr>
          <p:cNvPr id="44" name="Text 40"/>
          <p:cNvSpPr/>
          <p:nvPr/>
        </p:nvSpPr>
        <p:spPr>
          <a:xfrm>
            <a:off x="8138160" y="528523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GitHub Portfolio</a:t>
            </a:r>
            <a:endParaRPr lang="en-US" sz="1400" dirty="0"/>
          </a:p>
        </p:txBody>
      </p:sp>
      <p:sp>
        <p:nvSpPr>
          <p:cNvPr id="45" name="Text 41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A7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ApexPlanet Data Analytics Internship  |  Parth Varute — Final Portfolio</a:t>
            </a:r>
            <a:endParaRPr lang="en-US" sz="900" dirty="0"/>
          </a:p>
        </p:txBody>
      </p:sp>
      <p:sp>
        <p:nvSpPr>
          <p:cNvPr id="46" name="Text 42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1F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486400" cy="5486400"/>
          </a:xfrm>
          <a:prstGeom prst="ellipse">
            <a:avLst/>
          </a:prstGeom>
          <a:solidFill>
            <a:srgbClr val="2B2F77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5989320"/>
            <a:ext cx="64008" cy="6400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4" name="Shape 2"/>
          <p:cNvSpPr/>
          <p:nvPr/>
        </p:nvSpPr>
        <p:spPr>
          <a:xfrm>
            <a:off x="10881360" y="6135624"/>
            <a:ext cx="64008" cy="6400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5" name="Shape 3"/>
          <p:cNvSpPr/>
          <p:nvPr/>
        </p:nvSpPr>
        <p:spPr>
          <a:xfrm>
            <a:off x="10881360" y="6281928"/>
            <a:ext cx="64008" cy="6400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6" name="Shape 4"/>
          <p:cNvSpPr/>
          <p:nvPr/>
        </p:nvSpPr>
        <p:spPr>
          <a:xfrm>
            <a:off x="11027664" y="5989320"/>
            <a:ext cx="64008" cy="6400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7" name="Shape 5"/>
          <p:cNvSpPr/>
          <p:nvPr/>
        </p:nvSpPr>
        <p:spPr>
          <a:xfrm>
            <a:off x="11027664" y="6135624"/>
            <a:ext cx="64008" cy="6400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8" name="Shape 6"/>
          <p:cNvSpPr/>
          <p:nvPr/>
        </p:nvSpPr>
        <p:spPr>
          <a:xfrm>
            <a:off x="11027664" y="6281928"/>
            <a:ext cx="64008" cy="6400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9" name="Shape 7"/>
          <p:cNvSpPr/>
          <p:nvPr/>
        </p:nvSpPr>
        <p:spPr>
          <a:xfrm>
            <a:off x="11173968" y="5989320"/>
            <a:ext cx="64008" cy="6400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0" name="Shape 8"/>
          <p:cNvSpPr/>
          <p:nvPr/>
        </p:nvSpPr>
        <p:spPr>
          <a:xfrm>
            <a:off x="11173968" y="6135624"/>
            <a:ext cx="64008" cy="6400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1" name="Shape 9"/>
          <p:cNvSpPr/>
          <p:nvPr/>
        </p:nvSpPr>
        <p:spPr>
          <a:xfrm>
            <a:off x="11173968" y="6281928"/>
            <a:ext cx="64008" cy="6400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2" name="Shape 10"/>
          <p:cNvSpPr/>
          <p:nvPr/>
        </p:nvSpPr>
        <p:spPr>
          <a:xfrm>
            <a:off x="11320272" y="5989320"/>
            <a:ext cx="64008" cy="6400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3" name="Shape 11"/>
          <p:cNvSpPr/>
          <p:nvPr/>
        </p:nvSpPr>
        <p:spPr>
          <a:xfrm>
            <a:off x="11320272" y="6135624"/>
            <a:ext cx="64008" cy="6400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4" name="Shape 12"/>
          <p:cNvSpPr/>
          <p:nvPr/>
        </p:nvSpPr>
        <p:spPr>
          <a:xfrm>
            <a:off x="11320272" y="6281928"/>
            <a:ext cx="64008" cy="6400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5" name="Shape 13"/>
          <p:cNvSpPr/>
          <p:nvPr/>
        </p:nvSpPr>
        <p:spPr>
          <a:xfrm>
            <a:off x="11466576" y="5989320"/>
            <a:ext cx="64008" cy="6400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6" name="Shape 14"/>
          <p:cNvSpPr/>
          <p:nvPr/>
        </p:nvSpPr>
        <p:spPr>
          <a:xfrm>
            <a:off x="11466576" y="6135624"/>
            <a:ext cx="64008" cy="6400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7" name="Shape 15"/>
          <p:cNvSpPr/>
          <p:nvPr/>
        </p:nvSpPr>
        <p:spPr>
          <a:xfrm>
            <a:off x="11466576" y="6281928"/>
            <a:ext cx="64008" cy="6400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8" name="Shape 16"/>
          <p:cNvSpPr/>
          <p:nvPr/>
        </p:nvSpPr>
        <p:spPr>
          <a:xfrm>
            <a:off x="11612880" y="5989320"/>
            <a:ext cx="64008" cy="6400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9" name="Shape 17"/>
          <p:cNvSpPr/>
          <p:nvPr/>
        </p:nvSpPr>
        <p:spPr>
          <a:xfrm>
            <a:off x="11612880" y="6135624"/>
            <a:ext cx="64008" cy="6400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0" name="Shape 18"/>
          <p:cNvSpPr/>
          <p:nvPr/>
        </p:nvSpPr>
        <p:spPr>
          <a:xfrm>
            <a:off x="11612880" y="6281928"/>
            <a:ext cx="64008" cy="6400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21031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22" name="Shape 20"/>
          <p:cNvSpPr/>
          <p:nvPr/>
        </p:nvSpPr>
        <p:spPr>
          <a:xfrm>
            <a:off x="868680" y="3063240"/>
            <a:ext cx="502920" cy="4572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32461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8B85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Connect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822960" y="4114800"/>
            <a:ext cx="502920" cy="502920"/>
          </a:xfrm>
          <a:prstGeom prst="ellipse">
            <a:avLst/>
          </a:prstGeom>
          <a:solidFill>
            <a:srgbClr val="2B2F77"/>
          </a:solidFill>
          <a:ln/>
        </p:spPr>
      </p:sp>
      <p:pic>
        <p:nvPicPr>
          <p:cNvPr id="25" name="Image 0" descr="/home/claude/portfolio_ppt/icons/githu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340" y="4180180"/>
            <a:ext cx="372161" cy="372161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508760" y="41148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000" dirty="0"/>
          </a:p>
        </p:txBody>
      </p:sp>
      <p:sp>
        <p:nvSpPr>
          <p:cNvPr id="27" name="Text 24">
            <a:hlinkClick r:id="rId4"/>
          </p:cNvPr>
          <p:cNvSpPr/>
          <p:nvPr/>
        </p:nvSpPr>
        <p:spPr>
          <a:xfrm>
            <a:off x="1508760" y="436168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github.com/parthvarute09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822960" y="4828032"/>
            <a:ext cx="502920" cy="502920"/>
          </a:xfrm>
          <a:prstGeom prst="ellipse">
            <a:avLst/>
          </a:prstGeom>
          <a:solidFill>
            <a:srgbClr val="2B2F77"/>
          </a:solidFill>
          <a:ln/>
        </p:spPr>
      </p:sp>
      <p:pic>
        <p:nvPicPr>
          <p:cNvPr id="29" name="Image 1" descr="/home/claude/portfolio_ppt/icons/linked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340" y="4893412"/>
            <a:ext cx="372161" cy="372161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1508760" y="48280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1000" dirty="0"/>
          </a:p>
        </p:txBody>
      </p:sp>
      <p:sp>
        <p:nvSpPr>
          <p:cNvPr id="31" name="Text 27">
            <a:hlinkClick r:id="rId6"/>
          </p:cNvPr>
          <p:cNvSpPr/>
          <p:nvPr/>
        </p:nvSpPr>
        <p:spPr>
          <a:xfrm>
            <a:off x="1508760" y="50749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linkedin.com/in/parth-varute-49516a332</a:t>
            </a:r>
            <a:endParaRPr lang="en-US" sz="1300" dirty="0"/>
          </a:p>
        </p:txBody>
      </p:sp>
      <p:sp>
        <p:nvSpPr>
          <p:cNvPr id="32" name="Shape 28"/>
          <p:cNvSpPr/>
          <p:nvPr/>
        </p:nvSpPr>
        <p:spPr>
          <a:xfrm>
            <a:off x="822960" y="5541264"/>
            <a:ext cx="502920" cy="502920"/>
          </a:xfrm>
          <a:prstGeom prst="ellipse">
            <a:avLst/>
          </a:prstGeom>
          <a:solidFill>
            <a:srgbClr val="2B2F77"/>
          </a:solidFill>
          <a:ln/>
        </p:spPr>
      </p:sp>
      <p:pic>
        <p:nvPicPr>
          <p:cNvPr id="33" name="Image 2" descr="/home/claude/portfolio_ppt/icons/mai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8340" y="5606644"/>
            <a:ext cx="372161" cy="372161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1508760" y="554126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00" dirty="0"/>
          </a:p>
        </p:txBody>
      </p:sp>
      <p:sp>
        <p:nvSpPr>
          <p:cNvPr id="35" name="Text 30">
            <a:hlinkClick r:id="rId8"/>
          </p:cNvPr>
          <p:cNvSpPr/>
          <p:nvPr/>
        </p:nvSpPr>
        <p:spPr>
          <a:xfrm>
            <a:off x="1508760" y="578815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parthvarute2005@gmail.com</a:t>
            </a:r>
            <a:endParaRPr lang="en-US" sz="1300" dirty="0"/>
          </a:p>
        </p:txBody>
      </p:sp>
      <p:sp>
        <p:nvSpPr>
          <p:cNvPr id="36" name="Text 31"/>
          <p:cNvSpPr/>
          <p:nvPr/>
        </p:nvSpPr>
        <p:spPr>
          <a:xfrm>
            <a:off x="82296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7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ApexPlanet Software Pvt. Ltd.  |  Data Analytics Internship 2026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1172</Words>
  <Application>Microsoft Office PowerPoint</Application>
  <PresentationFormat>Widescreen</PresentationFormat>
  <Paragraphs>186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vivek mane</cp:lastModifiedBy>
  <cp:revision>2</cp:revision>
  <dcterms:created xsi:type="dcterms:W3CDTF">2026-08-10T10:21:33Z</dcterms:created>
  <dcterms:modified xsi:type="dcterms:W3CDTF">2026-08-10T10:49:48Z</dcterms:modified>
</cp:coreProperties>
</file>